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730984" cy="892454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KnowBody organizes interaction evidence for experience-guided end-effector control. (a) Original real-robot photos show marker use and pouring; original RoboDojo frames show pushing, covering, stacking and mallet use. (b) The execution agent combines the task, a prepared brief and current images/state in one native episode session. It queries same-task process candidates or body/interaction knowledge directly. Action chunks depict larger free-space steps and finer contact steps schematically. The memory manager prepares context at episode start, reviews or learns on demand, and reads the library; all writes pass source/scope checks before append or revision. (c) Body and External organize raw evidence, conditional cases and reusable knowledge. The marker example schematically relates the commanded hand/EEF reference to the visible functional tip, whose offset depends on tool mounting. Photo callouts are qualitative part annotations, not a calibrated projection or metric offset measurement. The external example uses original user-provided key-grasp and alignment demonstrations to propose preserving working-end access; the item remains a candidate to check against the current grasp, object and target geometry. The same-task retrieval and episode-history thumbnails instead follow one archived robot episode: head frames 140, 160, 200 and wrist frame 240 from run 20261020T173608_649538175, in order. They illustrate source-linked process access without certifying full insertion or a 90-degree key turn. Knowledge is read first and source details remain available on demand.</a:t>
            </a:r>
          </a:p>
          <a:p/>
          <a:p>
            <a:r>
              <a:t>Native editable text, arrows, boxes, action-chunk schematics and landmark overlays; separate original photographs with editable viewport crop. Provenance and source/event IDs are in ASSET_PROVENANCE.json and EVIDENCE_RECORDS.json.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 header"/>
          <p:cNvSpPr/>
          <p:nvPr/>
        </p:nvSpPr>
        <p:spPr>
          <a:xfrm>
            <a:off x="100584" y="54864"/>
            <a:ext cx="6437376" cy="457200"/>
          </a:xfrm>
          <a:prstGeom prst="roundRect">
            <a:avLst>
              <a:gd name="adj" fmla="val 8000"/>
            </a:avLst>
          </a:prstGeom>
          <a:solidFill>
            <a:srgbClr val="DDEBFC"/>
          </a:solidFill>
          <a:ln w="20320">
            <a:solidFill>
              <a:srgbClr val="2479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 heading"/>
          <p:cNvSpPr txBox="1"/>
          <p:nvPr/>
        </p:nvSpPr>
        <p:spPr>
          <a:xfrm>
            <a:off x="256032" y="82296"/>
            <a:ext cx="6163056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081D36"/>
                </a:solidFill>
                <a:latin typeface="Arial"/>
              </a:defRPr>
            </a:pPr>
            <a:r>
              <a:t>(a) Interaction across real &amp; simulated worlds</a:t>
            </a:r>
          </a:p>
        </p:txBody>
      </p:sp>
      <p:sp>
        <p:nvSpPr>
          <p:cNvPr id="4" name="a boundary"/>
          <p:cNvSpPr/>
          <p:nvPr/>
        </p:nvSpPr>
        <p:spPr>
          <a:xfrm>
            <a:off x="109728" y="566928"/>
            <a:ext cx="6400800" cy="3822191"/>
          </a:xfrm>
          <a:prstGeom prst="roundRect">
            <a:avLst>
              <a:gd name="adj" fmla="val 8000"/>
            </a:avLst>
          </a:prstGeom>
          <a:noFill/>
          <a:ln w="10795">
            <a:solidFill>
              <a:srgbClr val="2479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real pen operation" descr="real_pen.jpg"/>
          <p:cNvPicPr>
            <a:picLocks noChangeAspect="1"/>
          </p:cNvPicPr>
          <p:nvPr/>
        </p:nvPicPr>
        <p:blipFill>
          <a:blip r:embed="rId2"/>
          <a:srcRect l="31463" r="11463" t="25000" b="23000"/>
          <a:stretch>
            <a:fillRect/>
          </a:stretch>
        </p:blipFill>
        <p:spPr>
          <a:xfrm>
            <a:off x="237744" y="667512"/>
            <a:ext cx="2926080" cy="1499616"/>
          </a:xfrm>
          <a:prstGeom prst="rect">
            <a:avLst/>
          </a:prstGeom>
        </p:spPr>
      </p:pic>
      <p:sp>
        <p:nvSpPr>
          <p:cNvPr id="6" name="real pen operation border"/>
          <p:cNvSpPr/>
          <p:nvPr/>
        </p:nvSpPr>
        <p:spPr>
          <a:xfrm>
            <a:off x="237744" y="667512"/>
            <a:ext cx="2926080" cy="1499616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real pouring" descr="real_pour.jpg"/>
          <p:cNvPicPr>
            <a:picLocks noChangeAspect="1"/>
          </p:cNvPicPr>
          <p:nvPr/>
        </p:nvPicPr>
        <p:blipFill>
          <a:blip r:embed="rId3"/>
          <a:srcRect l="5000" r="34000" t="19075" b="29075"/>
          <a:stretch>
            <a:fillRect/>
          </a:stretch>
        </p:blipFill>
        <p:spPr>
          <a:xfrm>
            <a:off x="3246120" y="667512"/>
            <a:ext cx="3136392" cy="1499616"/>
          </a:xfrm>
          <a:prstGeom prst="rect">
            <a:avLst/>
          </a:prstGeom>
        </p:spPr>
      </p:pic>
      <p:sp>
        <p:nvSpPr>
          <p:cNvPr id="8" name="real pouring border"/>
          <p:cNvSpPr/>
          <p:nvPr/>
        </p:nvSpPr>
        <p:spPr>
          <a:xfrm>
            <a:off x="3246120" y="667512"/>
            <a:ext cx="3136392" cy="1499616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al badge"/>
          <p:cNvSpPr/>
          <p:nvPr/>
        </p:nvSpPr>
        <p:spPr>
          <a:xfrm>
            <a:off x="219456" y="658368"/>
            <a:ext cx="859536" cy="292608"/>
          </a:xfrm>
          <a:prstGeom prst="roundRect">
            <a:avLst>
              <a:gd name="adj" fmla="val 8000"/>
            </a:avLst>
          </a:prstGeom>
          <a:solidFill>
            <a:srgbClr val="2479D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al badge label"/>
          <p:cNvSpPr txBox="1"/>
          <p:nvPr/>
        </p:nvSpPr>
        <p:spPr>
          <a:xfrm>
            <a:off x="265176" y="676656"/>
            <a:ext cx="76809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FFFFFF"/>
                </a:solidFill>
                <a:latin typeface="Arial"/>
              </a:defRPr>
            </a:pPr>
            <a:r>
              <a:t>Real</a:t>
            </a:r>
          </a:p>
        </p:txBody>
      </p:sp>
      <p:sp>
        <p:nvSpPr>
          <p:cNvPr id="11" name="pen caption"/>
          <p:cNvSpPr txBox="1"/>
          <p:nvPr/>
        </p:nvSpPr>
        <p:spPr>
          <a:xfrm>
            <a:off x="237744" y="218541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102E83"/>
                </a:solidFill>
                <a:latin typeface="Arial"/>
              </a:defRPr>
            </a:pPr>
            <a:r>
              <a:t>Pen operation</a:t>
            </a:r>
          </a:p>
        </p:txBody>
      </p:sp>
      <p:sp>
        <p:nvSpPr>
          <p:cNvPr id="12" name="pour caption"/>
          <p:cNvSpPr txBox="1"/>
          <p:nvPr/>
        </p:nvSpPr>
        <p:spPr>
          <a:xfrm>
            <a:off x="3246120" y="2185416"/>
            <a:ext cx="313639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102E83"/>
                </a:solidFill>
                <a:latin typeface="Arial"/>
              </a:defRPr>
            </a:pPr>
            <a:r>
              <a:t>Pouring</a:t>
            </a:r>
          </a:p>
        </p:txBody>
      </p:sp>
      <p:sp>
        <p:nvSpPr>
          <p:cNvPr id="13" name="simulation boundary"/>
          <p:cNvSpPr/>
          <p:nvPr/>
        </p:nvSpPr>
        <p:spPr>
          <a:xfrm>
            <a:off x="228600" y="2441448"/>
            <a:ext cx="6172200" cy="1591056"/>
          </a:xfrm>
          <a:prstGeom prst="roundRect">
            <a:avLst>
              <a:gd name="adj" fmla="val 8000"/>
            </a:avLst>
          </a:prstGeom>
          <a:noFill/>
          <a:ln w="8255">
            <a:solidFill>
              <a:srgbClr val="2479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simulation push" descr="sim_push.jpg"/>
          <p:cNvPicPr>
            <a:picLocks noChangeAspect="1"/>
          </p:cNvPicPr>
          <p:nvPr/>
        </p:nvPicPr>
        <p:blipFill>
          <a:blip r:embed="rId4"/>
          <a:srcRect l="22239" r="34239" t="20000" b="30000"/>
          <a:stretch>
            <a:fillRect/>
          </a:stretch>
        </p:blipFill>
        <p:spPr>
          <a:xfrm>
            <a:off x="246888" y="2505456"/>
            <a:ext cx="1453896" cy="1252728"/>
          </a:xfrm>
          <a:prstGeom prst="rect">
            <a:avLst/>
          </a:prstGeom>
        </p:spPr>
      </p:pic>
      <p:sp>
        <p:nvSpPr>
          <p:cNvPr id="15" name="simulation push border"/>
          <p:cNvSpPr/>
          <p:nvPr/>
        </p:nvSpPr>
        <p:spPr>
          <a:xfrm>
            <a:off x="246888" y="2505456"/>
            <a:ext cx="1453896" cy="1252728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simulation cover" descr="sim_cover.jpg"/>
          <p:cNvPicPr>
            <a:picLocks noChangeAspect="1"/>
          </p:cNvPicPr>
          <p:nvPr/>
        </p:nvPicPr>
        <p:blipFill>
          <a:blip r:embed="rId5"/>
          <a:srcRect l="30128" r="21128" t="20000" b="24000"/>
          <a:stretch>
            <a:fillRect/>
          </a:stretch>
        </p:blipFill>
        <p:spPr>
          <a:xfrm>
            <a:off x="1773936" y="2505456"/>
            <a:ext cx="1453896" cy="1252728"/>
          </a:xfrm>
          <a:prstGeom prst="rect">
            <a:avLst/>
          </a:prstGeom>
        </p:spPr>
      </p:pic>
      <p:sp>
        <p:nvSpPr>
          <p:cNvPr id="17" name="simulation cover border"/>
          <p:cNvSpPr/>
          <p:nvPr/>
        </p:nvSpPr>
        <p:spPr>
          <a:xfrm>
            <a:off x="1773936" y="2505456"/>
            <a:ext cx="1453896" cy="1252728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simulation stack" descr="sim_stack.jpg"/>
          <p:cNvPicPr>
            <a:picLocks noChangeAspect="1"/>
          </p:cNvPicPr>
          <p:nvPr/>
        </p:nvPicPr>
        <p:blipFill>
          <a:blip r:embed="rId6"/>
          <a:srcRect l="32912" r="18912" t="19000" b="26000"/>
          <a:stretch>
            <a:fillRect/>
          </a:stretch>
        </p:blipFill>
        <p:spPr>
          <a:xfrm>
            <a:off x="3300984" y="2505456"/>
            <a:ext cx="1463040" cy="1252728"/>
          </a:xfrm>
          <a:prstGeom prst="rect">
            <a:avLst/>
          </a:prstGeom>
        </p:spPr>
      </p:pic>
      <p:sp>
        <p:nvSpPr>
          <p:cNvPr id="19" name="simulation stack border"/>
          <p:cNvSpPr/>
          <p:nvPr/>
        </p:nvSpPr>
        <p:spPr>
          <a:xfrm>
            <a:off x="3300984" y="2505456"/>
            <a:ext cx="1463040" cy="1252728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simulation tool use" descr="body_head.jpg"/>
          <p:cNvPicPr>
            <a:picLocks noChangeAspect="1"/>
          </p:cNvPicPr>
          <p:nvPr/>
        </p:nvPicPr>
        <p:blipFill>
          <a:blip r:embed="rId7"/>
          <a:srcRect l="11007" r="43007" t="8000" b="42000"/>
          <a:stretch>
            <a:fillRect/>
          </a:stretch>
        </p:blipFill>
        <p:spPr>
          <a:xfrm>
            <a:off x="4846320" y="2505456"/>
            <a:ext cx="1536192" cy="1252728"/>
          </a:xfrm>
          <a:prstGeom prst="rect">
            <a:avLst/>
          </a:prstGeom>
        </p:spPr>
      </p:pic>
      <p:sp>
        <p:nvSpPr>
          <p:cNvPr id="21" name="simulation tool use border"/>
          <p:cNvSpPr/>
          <p:nvPr/>
        </p:nvSpPr>
        <p:spPr>
          <a:xfrm>
            <a:off x="4846320" y="2505456"/>
            <a:ext cx="1536192" cy="1252728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imulation badge"/>
          <p:cNvSpPr/>
          <p:nvPr/>
        </p:nvSpPr>
        <p:spPr>
          <a:xfrm>
            <a:off x="228600" y="2478024"/>
            <a:ext cx="1097280" cy="292608"/>
          </a:xfrm>
          <a:prstGeom prst="roundRect">
            <a:avLst>
              <a:gd name="adj" fmla="val 8000"/>
            </a:avLst>
          </a:prstGeom>
          <a:solidFill>
            <a:srgbClr val="2479D6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imulation badge label"/>
          <p:cNvSpPr txBox="1"/>
          <p:nvPr/>
        </p:nvSpPr>
        <p:spPr>
          <a:xfrm>
            <a:off x="274320" y="2496312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FFFFFF"/>
                </a:solidFill>
                <a:latin typeface="Arial"/>
              </a:defRPr>
            </a:pPr>
            <a:r>
              <a:t>Simulation</a:t>
            </a:r>
          </a:p>
        </p:txBody>
      </p:sp>
      <p:sp>
        <p:nvSpPr>
          <p:cNvPr id="24" name="sim caption Push"/>
          <p:cNvSpPr txBox="1"/>
          <p:nvPr/>
        </p:nvSpPr>
        <p:spPr>
          <a:xfrm>
            <a:off x="246888" y="3776472"/>
            <a:ext cx="1453896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102E83"/>
                </a:solidFill>
                <a:latin typeface="Arial"/>
              </a:defRPr>
            </a:pPr>
            <a:r>
              <a:t>Push</a:t>
            </a:r>
          </a:p>
        </p:txBody>
      </p:sp>
      <p:sp>
        <p:nvSpPr>
          <p:cNvPr id="25" name="sim caption Cover"/>
          <p:cNvSpPr txBox="1"/>
          <p:nvPr/>
        </p:nvSpPr>
        <p:spPr>
          <a:xfrm>
            <a:off x="1773936" y="3776472"/>
            <a:ext cx="1453896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102E83"/>
                </a:solidFill>
                <a:latin typeface="Arial"/>
              </a:defRPr>
            </a:pPr>
            <a:r>
              <a:t>Cover</a:t>
            </a:r>
          </a:p>
        </p:txBody>
      </p:sp>
      <p:sp>
        <p:nvSpPr>
          <p:cNvPr id="26" name="sim caption Stack"/>
          <p:cNvSpPr txBox="1"/>
          <p:nvPr/>
        </p:nvSpPr>
        <p:spPr>
          <a:xfrm>
            <a:off x="3300984" y="3776472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102E83"/>
                </a:solidFill>
                <a:latin typeface="Arial"/>
              </a:defRPr>
            </a:pPr>
            <a:r>
              <a:t>Stack</a:t>
            </a:r>
          </a:p>
        </p:txBody>
      </p:sp>
      <p:sp>
        <p:nvSpPr>
          <p:cNvPr id="27" name="sim caption Tool use"/>
          <p:cNvSpPr txBox="1"/>
          <p:nvPr/>
        </p:nvSpPr>
        <p:spPr>
          <a:xfrm>
            <a:off x="4846320" y="3776472"/>
            <a:ext cx="153619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102E83"/>
                </a:solidFill>
                <a:latin typeface="Arial"/>
              </a:defRPr>
            </a:pPr>
            <a:r>
              <a:t>Tool use</a:t>
            </a:r>
          </a:p>
        </p:txBody>
      </p:sp>
      <p:sp>
        <p:nvSpPr>
          <p:cNvPr id="28" name="feedback strip"/>
          <p:cNvSpPr/>
          <p:nvPr/>
        </p:nvSpPr>
        <p:spPr>
          <a:xfrm>
            <a:off x="237744" y="4023360"/>
            <a:ext cx="6144768" cy="283464"/>
          </a:xfrm>
          <a:prstGeom prst="roundRect">
            <a:avLst>
              <a:gd name="adj" fmla="val 8000"/>
            </a:avLst>
          </a:prstGeom>
          <a:solidFill>
            <a:srgbClr val="F1F7FE"/>
          </a:solidFill>
          <a:ln w="8255">
            <a:solidFill>
              <a:srgbClr val="2479D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eedback label"/>
          <p:cNvSpPr txBox="1"/>
          <p:nvPr/>
        </p:nvSpPr>
        <p:spPr>
          <a:xfrm>
            <a:off x="292608" y="4032504"/>
            <a:ext cx="603504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0">
                <a:solidFill>
                  <a:srgbClr val="102E83"/>
                </a:solidFill>
                <a:latin typeface="Arial"/>
              </a:defRPr>
            </a:pPr>
            <a:r>
              <a:t>Images · measured state · execution feedback</a:t>
            </a:r>
          </a:p>
        </p:txBody>
      </p:sp>
      <p:sp>
        <p:nvSpPr>
          <p:cNvPr id="30" name="action loop"/>
          <p:cNvSpPr/>
          <p:nvPr/>
        </p:nvSpPr>
        <p:spPr>
          <a:xfrm>
            <a:off x="6574536" y="932688"/>
            <a:ext cx="1600199" cy="667512"/>
          </a:xfrm>
          <a:custGeom>
            <a:avLst/>
            <a:gdLst/>
            <a:ahLst/>
            <a:cxnLst/>
            <a:rect l="0" t="0" r="r" b="b"/>
            <a:pathLst>
              <a:path w="1600200" h="667512" fill="none">
                <a:moveTo>
                  <a:pt x="1600200" y="667512"/>
                </a:moveTo>
                <a:cubicBezTo>
                  <a:pt x="1042416" y="0"/>
                  <a:pt x="484632" y="256032"/>
                  <a:pt x="0" y="667512"/>
                </a:cubicBezTo>
              </a:path>
            </a:pathLst>
          </a:custGeom>
          <a:noFill/>
          <a:ln w="53340">
            <a:solidFill>
              <a:srgbClr val="F4771E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ction loop label"/>
          <p:cNvSpPr txBox="1"/>
          <p:nvPr/>
        </p:nvSpPr>
        <p:spPr>
          <a:xfrm>
            <a:off x="6528816" y="932688"/>
            <a:ext cx="1691640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96" b="1">
                <a:solidFill>
                  <a:srgbClr val="F4771E"/>
                </a:solidFill>
                <a:latin typeface="Arial"/>
              </a:defRPr>
            </a:pPr>
            <a:r>
              <a:t>EEF poses + gripper</a:t>
            </a:r>
          </a:p>
        </p:txBody>
      </p:sp>
      <p:sp>
        <p:nvSpPr>
          <p:cNvPr id="32" name="observation loop"/>
          <p:cNvSpPr/>
          <p:nvPr/>
        </p:nvSpPr>
        <p:spPr>
          <a:xfrm>
            <a:off x="6583680" y="2542032"/>
            <a:ext cx="1591055" cy="557784"/>
          </a:xfrm>
          <a:custGeom>
            <a:avLst/>
            <a:gdLst/>
            <a:ahLst/>
            <a:cxnLst/>
            <a:rect l="0" t="0" r="r" b="b"/>
            <a:pathLst>
              <a:path w="1591056" h="557784" fill="none">
                <a:moveTo>
                  <a:pt x="0" y="0"/>
                </a:moveTo>
                <a:cubicBezTo>
                  <a:pt x="475488" y="557784"/>
                  <a:pt x="1115568" y="539496"/>
                  <a:pt x="1591056" y="0"/>
                </a:cubicBezTo>
              </a:path>
            </a:pathLst>
          </a:custGeom>
          <a:noFill/>
          <a:ln w="53340">
            <a:solidFill>
              <a:srgbClr val="2479D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bservation label"/>
          <p:cNvSpPr txBox="1"/>
          <p:nvPr/>
        </p:nvSpPr>
        <p:spPr>
          <a:xfrm>
            <a:off x="6702552" y="2999232"/>
            <a:ext cx="1399032" cy="2377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479D6"/>
                </a:solidFill>
                <a:latin typeface="Arial"/>
              </a:defRPr>
            </a:pPr>
            <a:r>
              <a:t>Images + state</a:t>
            </a:r>
          </a:p>
        </p:txBody>
      </p:sp>
      <p:sp>
        <p:nvSpPr>
          <p:cNvPr id="34" name="method name"/>
          <p:cNvSpPr txBox="1"/>
          <p:nvPr/>
        </p:nvSpPr>
        <p:spPr>
          <a:xfrm>
            <a:off x="6528816" y="1892807"/>
            <a:ext cx="1691640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448" b="1">
                <a:solidFill>
                  <a:srgbClr val="081D36"/>
                </a:solidFill>
                <a:latin typeface="Arial"/>
              </a:defRPr>
            </a:pPr>
            <a:r>
              <a:t>KnowBody</a:t>
            </a:r>
          </a:p>
        </p:txBody>
      </p:sp>
      <p:cxnSp>
        <p:nvCxnSpPr>
          <p:cNvPr id="35" name="record raw evidence 0"/>
          <p:cNvCxnSpPr/>
          <p:nvPr/>
        </p:nvCxnSpPr>
        <p:spPr>
          <a:xfrm>
            <a:off x="1682496" y="4407408"/>
            <a:ext cx="0" cy="301752"/>
          </a:xfrm>
          <a:prstGeom prst="line">
            <a:avLst/>
          </a:prstGeom>
          <a:ln w="30480">
            <a:solidFill>
              <a:srgbClr val="2479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ord label"/>
          <p:cNvSpPr txBox="1"/>
          <p:nvPr/>
        </p:nvSpPr>
        <p:spPr>
          <a:xfrm>
            <a:off x="1892807" y="4434840"/>
            <a:ext cx="100584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2479D6"/>
                </a:solidFill>
                <a:latin typeface="Arial"/>
              </a:defRPr>
            </a:pPr>
            <a:r>
              <a:t>Record</a:t>
            </a:r>
          </a:p>
        </p:txBody>
      </p:sp>
      <p:sp>
        <p:nvSpPr>
          <p:cNvPr id="37" name="b header"/>
          <p:cNvSpPr/>
          <p:nvPr/>
        </p:nvSpPr>
        <p:spPr>
          <a:xfrm>
            <a:off x="8220456" y="54864"/>
            <a:ext cx="6428232" cy="457200"/>
          </a:xfrm>
          <a:prstGeom prst="roundRect">
            <a:avLst>
              <a:gd name="adj" fmla="val 8000"/>
            </a:avLst>
          </a:prstGeom>
          <a:solidFill>
            <a:srgbClr val="FFF0DD"/>
          </a:solidFill>
          <a:ln w="20320">
            <a:solidFill>
              <a:srgbClr val="F4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 heading"/>
          <p:cNvSpPr txBox="1"/>
          <p:nvPr/>
        </p:nvSpPr>
        <p:spPr>
          <a:xfrm>
            <a:off x="8375904" y="91440"/>
            <a:ext cx="6144768" cy="3749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232" b="1">
                <a:solidFill>
                  <a:srgbClr val="081D36"/>
                </a:solidFill>
                <a:latin typeface="Arial"/>
              </a:defRPr>
            </a:pPr>
            <a:r>
              <a:t>(b) Experience-guided execution</a:t>
            </a:r>
          </a:p>
        </p:txBody>
      </p:sp>
      <p:sp>
        <p:nvSpPr>
          <p:cNvPr id="39" name="b boundary"/>
          <p:cNvSpPr/>
          <p:nvPr/>
        </p:nvSpPr>
        <p:spPr>
          <a:xfrm>
            <a:off x="8238744" y="566928"/>
            <a:ext cx="6409944" cy="3904487"/>
          </a:xfrm>
          <a:prstGeom prst="roundRect">
            <a:avLst>
              <a:gd name="adj" fmla="val 8000"/>
            </a:avLst>
          </a:prstGeom>
          <a:noFill/>
          <a:ln w="10795">
            <a:solidFill>
              <a:srgbClr val="F4771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xecution agent"/>
          <p:cNvSpPr/>
          <p:nvPr/>
        </p:nvSpPr>
        <p:spPr>
          <a:xfrm>
            <a:off x="8366760" y="685800"/>
            <a:ext cx="2651760" cy="2404872"/>
          </a:xfrm>
          <a:prstGeom prst="roundRect">
            <a:avLst>
              <a:gd name="adj" fmla="val 8000"/>
            </a:avLst>
          </a:prstGeom>
          <a:solidFill>
            <a:srgbClr val="FFF0DD"/>
          </a:solidFill>
          <a:ln w="15240">
            <a:solidFill>
              <a:srgbClr val="F477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xecution title"/>
          <p:cNvSpPr txBox="1"/>
          <p:nvPr/>
        </p:nvSpPr>
        <p:spPr>
          <a:xfrm>
            <a:off x="8540496" y="749808"/>
            <a:ext cx="2313432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943" b="1">
                <a:solidFill>
                  <a:srgbClr val="081D36"/>
                </a:solidFill>
                <a:latin typeface="Arial"/>
              </a:defRPr>
            </a:pPr>
            <a:r>
              <a:t>Execution agent</a:t>
            </a:r>
          </a:p>
        </p:txBody>
      </p:sp>
      <p:sp>
        <p:nvSpPr>
          <p:cNvPr id="42" name="execution session"/>
          <p:cNvSpPr txBox="1"/>
          <p:nvPr/>
        </p:nvSpPr>
        <p:spPr>
          <a:xfrm>
            <a:off x="8503920" y="1051560"/>
            <a:ext cx="237744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32" b="0">
                <a:solidFill>
                  <a:srgbClr val="102E83"/>
                </a:solidFill>
                <a:latin typeface="Arial"/>
              </a:defRPr>
            </a:pPr>
            <a:r>
              <a:t>One session per episode</a:t>
            </a:r>
          </a:p>
        </p:txBody>
      </p:sp>
      <p:sp>
        <p:nvSpPr>
          <p:cNvPr id="43" name="input Task"/>
          <p:cNvSpPr/>
          <p:nvPr/>
        </p:nvSpPr>
        <p:spPr>
          <a:xfrm>
            <a:off x="8439912" y="1280160"/>
            <a:ext cx="80467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7C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nput Task heading"/>
          <p:cNvSpPr txBox="1"/>
          <p:nvPr/>
        </p:nvSpPr>
        <p:spPr>
          <a:xfrm>
            <a:off x="8467344" y="130759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1">
                <a:solidFill>
                  <a:srgbClr val="102E83"/>
                </a:solidFill>
                <a:latin typeface="Arial"/>
              </a:defRPr>
            </a:pPr>
            <a:r>
              <a:t>Task</a:t>
            </a:r>
          </a:p>
        </p:txBody>
      </p:sp>
      <p:sp>
        <p:nvSpPr>
          <p:cNvPr id="45" name="input Brief"/>
          <p:cNvSpPr/>
          <p:nvPr/>
        </p:nvSpPr>
        <p:spPr>
          <a:xfrm>
            <a:off x="9290304" y="1280160"/>
            <a:ext cx="804672" cy="896112"/>
          </a:xfrm>
          <a:prstGeom prst="roundRect">
            <a:avLst>
              <a:gd name="adj" fmla="val 8000"/>
            </a:avLst>
          </a:prstGeom>
          <a:solidFill>
            <a:srgbClr val="F1F8EC"/>
          </a:solidFill>
          <a:ln w="8890">
            <a:solidFill>
              <a:srgbClr val="B7D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input Brief heading"/>
          <p:cNvSpPr txBox="1"/>
          <p:nvPr/>
        </p:nvSpPr>
        <p:spPr>
          <a:xfrm>
            <a:off x="9317736" y="130759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1">
                <a:solidFill>
                  <a:srgbClr val="102E83"/>
                </a:solidFill>
                <a:latin typeface="Arial"/>
              </a:defRPr>
            </a:pPr>
            <a:r>
              <a:t>Brief</a:t>
            </a:r>
          </a:p>
        </p:txBody>
      </p:sp>
      <p:sp>
        <p:nvSpPr>
          <p:cNvPr id="47" name="input Live state"/>
          <p:cNvSpPr/>
          <p:nvPr/>
        </p:nvSpPr>
        <p:spPr>
          <a:xfrm>
            <a:off x="10140696" y="1280160"/>
            <a:ext cx="80467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E7C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nput Live state heading"/>
          <p:cNvSpPr txBox="1"/>
          <p:nvPr/>
        </p:nvSpPr>
        <p:spPr>
          <a:xfrm>
            <a:off x="10168128" y="1307592"/>
            <a:ext cx="74980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1">
                <a:solidFill>
                  <a:srgbClr val="102E83"/>
                </a:solidFill>
                <a:latin typeface="Arial"/>
              </a:defRPr>
            </a:pPr>
            <a:r>
              <a:t>Live state</a:t>
            </a:r>
          </a:p>
        </p:txBody>
      </p:sp>
      <p:sp>
        <p:nvSpPr>
          <p:cNvPr id="49" name="task document"/>
          <p:cNvSpPr/>
          <p:nvPr/>
        </p:nvSpPr>
        <p:spPr>
          <a:xfrm>
            <a:off x="8714232" y="1609344"/>
            <a:ext cx="246888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087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task document folded corner 0"/>
          <p:cNvCxnSpPr/>
          <p:nvPr/>
        </p:nvCxnSpPr>
        <p:spPr>
          <a:xfrm>
            <a:off x="8878824" y="1609344"/>
            <a:ext cx="0" cy="82296"/>
          </a:xfrm>
          <a:prstGeom prst="line">
            <a:avLst/>
          </a:prstGeom>
          <a:ln w="1397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task document folded corner 1"/>
          <p:cNvCxnSpPr/>
          <p:nvPr/>
        </p:nvCxnSpPr>
        <p:spPr>
          <a:xfrm>
            <a:off x="8878824" y="1691640"/>
            <a:ext cx="82296" cy="0"/>
          </a:xfrm>
          <a:prstGeom prst="line">
            <a:avLst/>
          </a:prstGeom>
          <a:ln w="1397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task document line 15 0"/>
          <p:cNvCxnSpPr/>
          <p:nvPr/>
        </p:nvCxnSpPr>
        <p:spPr>
          <a:xfrm>
            <a:off x="8769096" y="1746504"/>
            <a:ext cx="146304" cy="0"/>
          </a:xfrm>
          <a:prstGeom prst="line">
            <a:avLst/>
          </a:prstGeom>
          <a:ln w="1397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task document line 21 0"/>
          <p:cNvCxnSpPr/>
          <p:nvPr/>
        </p:nvCxnSpPr>
        <p:spPr>
          <a:xfrm>
            <a:off x="8769096" y="1801368"/>
            <a:ext cx="146304" cy="0"/>
          </a:xfrm>
          <a:prstGeom prst="line">
            <a:avLst/>
          </a:prstGeom>
          <a:ln w="1397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task document line 27 0"/>
          <p:cNvCxnSpPr/>
          <p:nvPr/>
        </p:nvCxnSpPr>
        <p:spPr>
          <a:xfrm>
            <a:off x="8769096" y="1856231"/>
            <a:ext cx="146304" cy="0"/>
          </a:xfrm>
          <a:prstGeom prst="line">
            <a:avLst/>
          </a:prstGeom>
          <a:ln w="1397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key task"/>
          <p:cNvSpPr txBox="1"/>
          <p:nvPr/>
        </p:nvSpPr>
        <p:spPr>
          <a:xfrm>
            <a:off x="8476488" y="1975104"/>
            <a:ext cx="731520" cy="1920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9" b="1">
                <a:solidFill>
                  <a:srgbClr val="102E83"/>
                </a:solidFill>
                <a:latin typeface="Arial"/>
              </a:defRPr>
            </a:pPr>
            <a:r>
              <a:t>Insert key</a:t>
            </a:r>
          </a:p>
        </p:txBody>
      </p:sp>
      <p:pic>
        <p:nvPicPr>
          <p:cNvPr id="56" name="task brief exposed key" descr="key_demo_grasp.png"/>
          <p:cNvPicPr>
            <a:picLocks noChangeAspect="1"/>
          </p:cNvPicPr>
          <p:nvPr/>
        </p:nvPicPr>
        <p:blipFill>
          <a:blip r:embed="rId8"/>
          <a:srcRect l="31135" r="31135" t="28000" b="25000"/>
          <a:stretch>
            <a:fillRect/>
          </a:stretch>
        </p:blipFill>
        <p:spPr>
          <a:xfrm>
            <a:off x="9345168" y="1536192"/>
            <a:ext cx="694944" cy="457200"/>
          </a:xfrm>
          <a:prstGeom prst="rect">
            <a:avLst/>
          </a:prstGeom>
        </p:spPr>
      </p:pic>
      <p:sp>
        <p:nvSpPr>
          <p:cNvPr id="57" name="task brief exposed key border"/>
          <p:cNvSpPr/>
          <p:nvPr/>
        </p:nvSpPr>
        <p:spPr>
          <a:xfrm>
            <a:off x="9345168" y="1536192"/>
            <a:ext cx="694944" cy="457200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brief exposure cue"/>
          <p:cNvSpPr txBox="1"/>
          <p:nvPr/>
        </p:nvSpPr>
        <p:spPr>
          <a:xfrm>
            <a:off x="9299448" y="1993392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52" b="1">
                <a:solidFill>
                  <a:srgbClr val="102E83"/>
                </a:solidFill>
                <a:latin typeface="Arial"/>
              </a:defRPr>
            </a:pPr>
            <a:r>
              <a:t>Expose tip</a:t>
            </a:r>
          </a:p>
        </p:txBody>
      </p:sp>
      <p:pic>
        <p:nvPicPr>
          <p:cNvPr id="59" name="current key approach" descr="key_200.jpg"/>
          <p:cNvPicPr>
            <a:picLocks noChangeAspect="1"/>
          </p:cNvPicPr>
          <p:nvPr/>
        </p:nvPicPr>
        <p:blipFill>
          <a:blip r:embed="rId9"/>
          <a:srcRect l="48000" r="15000" t="27754" b="28754"/>
          <a:stretch>
            <a:fillRect/>
          </a:stretch>
        </p:blipFill>
        <p:spPr>
          <a:xfrm>
            <a:off x="10195560" y="1536192"/>
            <a:ext cx="694944" cy="612648"/>
          </a:xfrm>
          <a:prstGeom prst="rect">
            <a:avLst/>
          </a:prstGeom>
        </p:spPr>
      </p:pic>
      <p:sp>
        <p:nvSpPr>
          <p:cNvPr id="60" name="current key approach border"/>
          <p:cNvSpPr/>
          <p:nvPr/>
        </p:nvSpPr>
        <p:spPr>
          <a:xfrm>
            <a:off x="10195560" y="1536192"/>
            <a:ext cx="694944" cy="612648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action chunk"/>
          <p:cNvSpPr/>
          <p:nvPr/>
        </p:nvSpPr>
        <p:spPr>
          <a:xfrm>
            <a:off x="8449056" y="2258568"/>
            <a:ext cx="2496312" cy="731520"/>
          </a:xfrm>
          <a:prstGeom prst="roundRect">
            <a:avLst>
              <a:gd name="adj" fmla="val 8000"/>
            </a:avLst>
          </a:prstGeom>
          <a:solidFill>
            <a:srgbClr val="F7F0FD"/>
          </a:solidFill>
          <a:ln w="9525">
            <a:solidFill>
              <a:srgbClr val="CBA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ction chunk heading"/>
          <p:cNvSpPr txBox="1"/>
          <p:nvPr/>
        </p:nvSpPr>
        <p:spPr>
          <a:xfrm>
            <a:off x="8494776" y="2276856"/>
            <a:ext cx="2404872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32" b="1">
                <a:solidFill>
                  <a:srgbClr val="102E83"/>
                </a:solidFill>
                <a:latin typeface="Arial"/>
              </a:defRPr>
            </a:pPr>
            <a:r>
              <a:t>EEF targets · action chunk</a:t>
            </a:r>
          </a:p>
        </p:txBody>
      </p:sp>
      <p:cxnSp>
        <p:nvCxnSpPr>
          <p:cNvPr id="63" name="action chunk progression 0"/>
          <p:cNvCxnSpPr/>
          <p:nvPr/>
        </p:nvCxnSpPr>
        <p:spPr>
          <a:xfrm>
            <a:off x="8503920" y="2596896"/>
            <a:ext cx="2386584" cy="0"/>
          </a:xfrm>
          <a:prstGeom prst="line">
            <a:avLst/>
          </a:prstGeom>
          <a:ln w="13970">
            <a:solidFill>
              <a:srgbClr val="0874E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 space target 0"/>
          <p:cNvSpPr/>
          <p:nvPr/>
        </p:nvSpPr>
        <p:spPr>
          <a:xfrm>
            <a:off x="8503920" y="2523744"/>
            <a:ext cx="256032" cy="164592"/>
          </a:xfrm>
          <a:prstGeom prst="roundRect">
            <a:avLst>
              <a:gd name="adj" fmla="val 8000"/>
            </a:avLst>
          </a:prstGeom>
          <a:solidFill>
            <a:srgbClr val="4C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 space target 1"/>
          <p:cNvSpPr/>
          <p:nvPr/>
        </p:nvSpPr>
        <p:spPr>
          <a:xfrm>
            <a:off x="8778240" y="2523744"/>
            <a:ext cx="256032" cy="164592"/>
          </a:xfrm>
          <a:prstGeom prst="roundRect">
            <a:avLst>
              <a:gd name="adj" fmla="val 8000"/>
            </a:avLst>
          </a:prstGeom>
          <a:solidFill>
            <a:srgbClr val="4C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 space target 2"/>
          <p:cNvSpPr/>
          <p:nvPr/>
        </p:nvSpPr>
        <p:spPr>
          <a:xfrm>
            <a:off x="9052560" y="2523744"/>
            <a:ext cx="256032" cy="164592"/>
          </a:xfrm>
          <a:prstGeom prst="roundRect">
            <a:avLst>
              <a:gd name="adj" fmla="val 8000"/>
            </a:avLst>
          </a:prstGeom>
          <a:solidFill>
            <a:srgbClr val="4C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 space target 3"/>
          <p:cNvSpPr/>
          <p:nvPr/>
        </p:nvSpPr>
        <p:spPr>
          <a:xfrm>
            <a:off x="9326880" y="2523744"/>
            <a:ext cx="256032" cy="164592"/>
          </a:xfrm>
          <a:prstGeom prst="roundRect">
            <a:avLst>
              <a:gd name="adj" fmla="val 8000"/>
            </a:avLst>
          </a:prstGeom>
          <a:solidFill>
            <a:srgbClr val="4C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 space target 4"/>
          <p:cNvSpPr/>
          <p:nvPr/>
        </p:nvSpPr>
        <p:spPr>
          <a:xfrm>
            <a:off x="9601200" y="2523744"/>
            <a:ext cx="256032" cy="164592"/>
          </a:xfrm>
          <a:prstGeom prst="roundRect">
            <a:avLst>
              <a:gd name="adj" fmla="val 8000"/>
            </a:avLst>
          </a:prstGeom>
          <a:solidFill>
            <a:srgbClr val="4C9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ontact target 0"/>
          <p:cNvSpPr/>
          <p:nvPr/>
        </p:nvSpPr>
        <p:spPr>
          <a:xfrm>
            <a:off x="9921240" y="2551176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4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ontact target 1"/>
          <p:cNvSpPr/>
          <p:nvPr/>
        </p:nvSpPr>
        <p:spPr>
          <a:xfrm>
            <a:off x="10058400" y="2551176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4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ontact target 2"/>
          <p:cNvSpPr/>
          <p:nvPr/>
        </p:nvSpPr>
        <p:spPr>
          <a:xfrm>
            <a:off x="10195560" y="2551176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4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contact target 3"/>
          <p:cNvSpPr/>
          <p:nvPr/>
        </p:nvSpPr>
        <p:spPr>
          <a:xfrm>
            <a:off x="10332720" y="2551176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4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ontact target 4"/>
          <p:cNvSpPr/>
          <p:nvPr/>
        </p:nvSpPr>
        <p:spPr>
          <a:xfrm>
            <a:off x="10469880" y="2551176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4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ontact target 5"/>
          <p:cNvSpPr/>
          <p:nvPr/>
        </p:nvSpPr>
        <p:spPr>
          <a:xfrm>
            <a:off x="10607040" y="2551176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4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contact target 6"/>
          <p:cNvSpPr/>
          <p:nvPr/>
        </p:nvSpPr>
        <p:spPr>
          <a:xfrm>
            <a:off x="10744200" y="2551176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49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arse chunk bracket 0"/>
          <p:cNvCxnSpPr/>
          <p:nvPr/>
        </p:nvCxnSpPr>
        <p:spPr>
          <a:xfrm>
            <a:off x="8513064" y="2743200"/>
            <a:ext cx="0" cy="27432"/>
          </a:xfrm>
          <a:prstGeom prst="line">
            <a:avLst/>
          </a:prstGeom>
          <a:ln w="1143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arse chunk bracket 1"/>
          <p:cNvCxnSpPr/>
          <p:nvPr/>
        </p:nvCxnSpPr>
        <p:spPr>
          <a:xfrm>
            <a:off x="8513064" y="2770632"/>
            <a:ext cx="1325880" cy="0"/>
          </a:xfrm>
          <a:prstGeom prst="line">
            <a:avLst/>
          </a:prstGeom>
          <a:ln w="1143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arse chunk bracket 2"/>
          <p:cNvCxnSpPr/>
          <p:nvPr/>
        </p:nvCxnSpPr>
        <p:spPr>
          <a:xfrm flipV="1">
            <a:off x="9838944" y="2743200"/>
            <a:ext cx="0" cy="27432"/>
          </a:xfrm>
          <a:prstGeom prst="line">
            <a:avLst/>
          </a:prstGeom>
          <a:ln w="1143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fine chunk bracket 0"/>
          <p:cNvCxnSpPr/>
          <p:nvPr/>
        </p:nvCxnSpPr>
        <p:spPr>
          <a:xfrm>
            <a:off x="9930384" y="2734056"/>
            <a:ext cx="0" cy="36576"/>
          </a:xfrm>
          <a:prstGeom prst="line">
            <a:avLst/>
          </a:prstGeom>
          <a:ln w="11430">
            <a:solidFill>
              <a:srgbClr val="F47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fine chunk bracket 1"/>
          <p:cNvCxnSpPr/>
          <p:nvPr/>
        </p:nvCxnSpPr>
        <p:spPr>
          <a:xfrm>
            <a:off x="9930384" y="2770632"/>
            <a:ext cx="941832" cy="0"/>
          </a:xfrm>
          <a:prstGeom prst="line">
            <a:avLst/>
          </a:prstGeom>
          <a:ln w="11430">
            <a:solidFill>
              <a:srgbClr val="F47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fine chunk bracket 2"/>
          <p:cNvCxnSpPr/>
          <p:nvPr/>
        </p:nvCxnSpPr>
        <p:spPr>
          <a:xfrm flipV="1">
            <a:off x="10872216" y="2734056"/>
            <a:ext cx="0" cy="36576"/>
          </a:xfrm>
          <a:prstGeom prst="line">
            <a:avLst/>
          </a:prstGeom>
          <a:ln w="11430">
            <a:solidFill>
              <a:srgbClr val="F477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free space cue"/>
          <p:cNvSpPr txBox="1"/>
          <p:nvPr/>
        </p:nvSpPr>
        <p:spPr>
          <a:xfrm>
            <a:off x="8503920" y="2798064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22" b="0">
                <a:solidFill>
                  <a:srgbClr val="0874EF"/>
                </a:solidFill>
                <a:latin typeface="Arial"/>
              </a:defRPr>
            </a:pPr>
            <a:r>
              <a:t>Free space: larger</a:t>
            </a:r>
          </a:p>
        </p:txBody>
      </p:sp>
      <p:sp>
        <p:nvSpPr>
          <p:cNvPr id="83" name="contact cue"/>
          <p:cNvSpPr txBox="1"/>
          <p:nvPr/>
        </p:nvSpPr>
        <p:spPr>
          <a:xfrm>
            <a:off x="9921240" y="2798064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22" b="0">
                <a:solidFill>
                  <a:srgbClr val="F4771E"/>
                </a:solidFill>
                <a:latin typeface="Arial"/>
              </a:defRPr>
            </a:pPr>
            <a:r>
              <a:t>Contact: finer</a:t>
            </a:r>
          </a:p>
        </p:txBody>
      </p:sp>
      <p:sp>
        <p:nvSpPr>
          <p:cNvPr id="84" name="retrieve"/>
          <p:cNvSpPr/>
          <p:nvPr/>
        </p:nvSpPr>
        <p:spPr>
          <a:xfrm>
            <a:off x="11905488" y="685800"/>
            <a:ext cx="2642616" cy="2560320"/>
          </a:xfrm>
          <a:prstGeom prst="roundRect">
            <a:avLst>
              <a:gd name="adj" fmla="val 8000"/>
            </a:avLst>
          </a:prstGeom>
          <a:solidFill>
            <a:srgbClr val="F2F8ED"/>
          </a:solidFill>
          <a:ln w="15240">
            <a:solidFill>
              <a:srgbClr val="479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trieve heading"/>
          <p:cNvSpPr txBox="1"/>
          <p:nvPr/>
        </p:nvSpPr>
        <p:spPr>
          <a:xfrm>
            <a:off x="12015216" y="740664"/>
            <a:ext cx="242316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16" b="1">
                <a:solidFill>
                  <a:srgbClr val="081D36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86" name="same task process entry"/>
          <p:cNvSpPr/>
          <p:nvPr/>
        </p:nvSpPr>
        <p:spPr>
          <a:xfrm>
            <a:off x="11978640" y="1014984"/>
            <a:ext cx="2487168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C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same task process heading"/>
          <p:cNvSpPr txBox="1"/>
          <p:nvPr/>
        </p:nvSpPr>
        <p:spPr>
          <a:xfrm>
            <a:off x="12051792" y="1033271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82" b="1">
                <a:solidFill>
                  <a:srgbClr val="102E83"/>
                </a:solidFill>
                <a:latin typeface="Arial"/>
              </a:defRPr>
            </a:pPr>
            <a:r>
              <a:t>Same-task process</a:t>
            </a:r>
          </a:p>
        </p:txBody>
      </p:sp>
      <p:pic>
        <p:nvPicPr>
          <p:cNvPr id="88" name="historical exposed key" descr="key_140.jpg"/>
          <p:cNvPicPr>
            <a:picLocks noChangeAspect="1"/>
          </p:cNvPicPr>
          <p:nvPr/>
        </p:nvPicPr>
        <p:blipFill>
          <a:blip r:embed="rId10"/>
          <a:srcRect l="29000" r="28000" t="31285" b="32285"/>
          <a:stretch>
            <a:fillRect/>
          </a:stretch>
        </p:blipFill>
        <p:spPr>
          <a:xfrm>
            <a:off x="12070080" y="1289304"/>
            <a:ext cx="877824" cy="557784"/>
          </a:xfrm>
          <a:prstGeom prst="rect">
            <a:avLst/>
          </a:prstGeom>
        </p:spPr>
      </p:pic>
      <p:sp>
        <p:nvSpPr>
          <p:cNvPr id="89" name="historical exposed key border"/>
          <p:cNvSpPr/>
          <p:nvPr/>
        </p:nvSpPr>
        <p:spPr>
          <a:xfrm>
            <a:off x="12070080" y="1289304"/>
            <a:ext cx="877824" cy="557784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historical insertion approach" descr="key_200.jpg"/>
          <p:cNvPicPr>
            <a:picLocks noChangeAspect="1"/>
          </p:cNvPicPr>
          <p:nvPr/>
        </p:nvPicPr>
        <p:blipFill>
          <a:blip r:embed="rId9"/>
          <a:srcRect l="48000" r="15000" t="34453" b="35453"/>
          <a:stretch>
            <a:fillRect/>
          </a:stretch>
        </p:blipFill>
        <p:spPr>
          <a:xfrm>
            <a:off x="13130784" y="1289304"/>
            <a:ext cx="914400" cy="557784"/>
          </a:xfrm>
          <a:prstGeom prst="rect">
            <a:avLst/>
          </a:prstGeom>
        </p:spPr>
      </p:pic>
      <p:sp>
        <p:nvSpPr>
          <p:cNvPr id="91" name="historical insertion approach border"/>
          <p:cNvSpPr/>
          <p:nvPr/>
        </p:nvSpPr>
        <p:spPr>
          <a:xfrm>
            <a:off x="13130784" y="1289304"/>
            <a:ext cx="914400" cy="557784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process snippet transition 0"/>
          <p:cNvCxnSpPr/>
          <p:nvPr/>
        </p:nvCxnSpPr>
        <p:spPr>
          <a:xfrm>
            <a:off x="12975336" y="1554480"/>
            <a:ext cx="118872" cy="0"/>
          </a:xfrm>
          <a:prstGeom prst="line">
            <a:avLst/>
          </a:prstGeom>
          <a:ln w="15240">
            <a:solidFill>
              <a:srgbClr val="102E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more process snippets"/>
          <p:cNvSpPr txBox="1"/>
          <p:nvPr/>
        </p:nvSpPr>
        <p:spPr>
          <a:xfrm>
            <a:off x="14090904" y="1380744"/>
            <a:ext cx="310896" cy="3749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2E83"/>
                </a:solidFill>
                <a:latin typeface="Arial"/>
              </a:defRPr>
            </a:pPr>
            <a:r>
              <a:t>…</a:t>
            </a:r>
          </a:p>
        </p:txBody>
      </p:sp>
      <p:sp>
        <p:nvSpPr>
          <p:cNvPr id="94" name="body interaction entry"/>
          <p:cNvSpPr/>
          <p:nvPr/>
        </p:nvSpPr>
        <p:spPr>
          <a:xfrm>
            <a:off x="11978640" y="1965960"/>
            <a:ext cx="2487168" cy="9966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99C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body interaction heading"/>
          <p:cNvSpPr txBox="1"/>
          <p:nvPr/>
        </p:nvSpPr>
        <p:spPr>
          <a:xfrm>
            <a:off x="12051792" y="197510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96" b="1">
                <a:solidFill>
                  <a:srgbClr val="102E83"/>
                </a:solidFill>
                <a:latin typeface="Arial"/>
              </a:defRPr>
            </a:pPr>
            <a:r>
              <a:t>Body / interaction knowledge</a:t>
            </a:r>
          </a:p>
        </p:txBody>
      </p:sp>
      <p:pic>
        <p:nvPicPr>
          <p:cNvPr id="96" name="retrieved marker evidence" descr="real_pen.jpg"/>
          <p:cNvPicPr>
            <a:picLocks noChangeAspect="1"/>
          </p:cNvPicPr>
          <p:nvPr/>
        </p:nvPicPr>
        <p:blipFill>
          <a:blip r:embed="rId2"/>
          <a:srcRect l="44000" r="20000" t="32808" b="27808"/>
          <a:stretch>
            <a:fillRect/>
          </a:stretch>
        </p:blipFill>
        <p:spPr>
          <a:xfrm>
            <a:off x="12070080" y="2240280"/>
            <a:ext cx="1069848" cy="658368"/>
          </a:xfrm>
          <a:prstGeom prst="rect">
            <a:avLst/>
          </a:prstGeom>
        </p:spPr>
      </p:pic>
      <p:sp>
        <p:nvSpPr>
          <p:cNvPr id="97" name="retrieved marker evidence border"/>
          <p:cNvSpPr/>
          <p:nvPr/>
        </p:nvSpPr>
        <p:spPr>
          <a:xfrm>
            <a:off x="12070080" y="2240280"/>
            <a:ext cx="1069848" cy="658368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trieved marker fields"/>
          <p:cNvSpPr/>
          <p:nvPr/>
        </p:nvSpPr>
        <p:spPr>
          <a:xfrm>
            <a:off x="13194792" y="2240280"/>
            <a:ext cx="1207008" cy="658368"/>
          </a:xfrm>
          <a:prstGeom prst="roundRect">
            <a:avLst>
              <a:gd name="adj" fmla="val 8000"/>
            </a:avLst>
          </a:prstGeom>
          <a:solidFill>
            <a:srgbClr val="E9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trieved marker fields text"/>
          <p:cNvSpPr txBox="1"/>
          <p:nvPr/>
        </p:nvSpPr>
        <p:spPr>
          <a:xfrm>
            <a:off x="13240512" y="2258568"/>
            <a:ext cx="1124712" cy="612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01" b="1">
                <a:solidFill>
                  <a:srgbClr val="102E83"/>
                </a:solidFill>
                <a:latin typeface="Arial"/>
              </a:defRPr>
            </a:pPr>
            <a:r>
              <a:t>Body: marker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01" b="1">
                <a:solidFill>
                  <a:srgbClr val="102E83"/>
                </a:solidFill>
                <a:latin typeface="Arial"/>
              </a:defRPr>
            </a:pPr>
            <a:r>
              <a:t>Rel.: EEF → tip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01" b="1">
                <a:solidFill>
                  <a:srgbClr val="102E83"/>
                </a:solidFill>
                <a:latin typeface="Arial"/>
              </a:defRPr>
            </a:pPr>
            <a:r>
              <a:t>Cond.: pose</a:t>
            </a:r>
          </a:p>
        </p:txBody>
      </p:sp>
      <p:sp>
        <p:nvSpPr>
          <p:cNvPr id="100" name="retrieval conditions cue"/>
          <p:cNvSpPr txBox="1"/>
          <p:nvPr/>
        </p:nvSpPr>
        <p:spPr>
          <a:xfrm>
            <a:off x="12060936" y="3008376"/>
            <a:ext cx="2331720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9" b="0">
                <a:solidFill>
                  <a:srgbClr val="102E83"/>
                </a:solidFill>
                <a:latin typeface="Arial"/>
              </a:defRPr>
            </a:pPr>
            <a:r>
              <a:t>Check current conditions</a:t>
            </a:r>
          </a:p>
        </p:txBody>
      </p:sp>
      <p:cxnSp>
        <p:nvCxnSpPr>
          <p:cNvPr id="101" name="query and return 0"/>
          <p:cNvCxnSpPr/>
          <p:nvPr/>
        </p:nvCxnSpPr>
        <p:spPr>
          <a:xfrm>
            <a:off x="11055096" y="1664208"/>
            <a:ext cx="813816" cy="0"/>
          </a:xfrm>
          <a:prstGeom prst="line">
            <a:avLst/>
          </a:prstGeom>
          <a:ln w="26670">
            <a:solidFill>
              <a:srgbClr val="47963A"/>
            </a:solidFill>
            <a:tailEnd type="triangle" w="sm" len="sm"/>
            <a:head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query return label"/>
          <p:cNvSpPr txBox="1"/>
          <p:nvPr/>
        </p:nvSpPr>
        <p:spPr>
          <a:xfrm>
            <a:off x="11137392" y="1207008"/>
            <a:ext cx="722376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32" b="1">
                <a:solidFill>
                  <a:srgbClr val="225C21"/>
                </a:solidFill>
                <a:latin typeface="Arial"/>
              </a:defRPr>
            </a:pPr>
            <a:r>
              <a:t>Query /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32" b="1">
                <a:solidFill>
                  <a:srgbClr val="225C21"/>
                </a:solidFill>
                <a:latin typeface="Arial"/>
              </a:defRPr>
            </a:pPr>
            <a:r>
              <a:t>return</a:t>
            </a:r>
          </a:p>
        </p:txBody>
      </p:sp>
      <p:sp>
        <p:nvSpPr>
          <p:cNvPr id="103" name="memory manager"/>
          <p:cNvSpPr/>
          <p:nvPr/>
        </p:nvSpPr>
        <p:spPr>
          <a:xfrm>
            <a:off x="8375904" y="3493008"/>
            <a:ext cx="3785615" cy="896112"/>
          </a:xfrm>
          <a:prstGeom prst="roundRect">
            <a:avLst>
              <a:gd name="adj" fmla="val 8000"/>
            </a:avLst>
          </a:prstGeom>
          <a:solidFill>
            <a:srgbClr val="F0E6FA"/>
          </a:solidFill>
          <a:ln w="15240">
            <a:solidFill>
              <a:srgbClr val="875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manager title"/>
          <p:cNvSpPr txBox="1"/>
          <p:nvPr/>
        </p:nvSpPr>
        <p:spPr>
          <a:xfrm>
            <a:off x="8503920" y="3529584"/>
            <a:ext cx="352044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872" b="1">
                <a:solidFill>
                  <a:srgbClr val="102E83"/>
                </a:solidFill>
                <a:latin typeface="Arial"/>
              </a:defRPr>
            </a:pPr>
            <a:r>
              <a:t>Memory manager</a:t>
            </a:r>
          </a:p>
        </p:txBody>
      </p:sp>
      <p:sp>
        <p:nvSpPr>
          <p:cNvPr id="105" name="prepare context operation"/>
          <p:cNvSpPr/>
          <p:nvPr/>
        </p:nvSpPr>
        <p:spPr>
          <a:xfrm>
            <a:off x="8494776" y="3877056"/>
            <a:ext cx="1682496" cy="457200"/>
          </a:xfrm>
          <a:prstGeom prst="roundRect">
            <a:avLst>
              <a:gd name="adj" fmla="val 8000"/>
            </a:avLst>
          </a:prstGeom>
          <a:solidFill>
            <a:srgbClr val="FCF9FF"/>
          </a:solidFill>
          <a:ln w="12700">
            <a:solidFill>
              <a:srgbClr val="875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prepare context document"/>
          <p:cNvSpPr/>
          <p:nvPr/>
        </p:nvSpPr>
        <p:spPr>
          <a:xfrm>
            <a:off x="8641080" y="3959352"/>
            <a:ext cx="228600" cy="292608"/>
          </a:xfrm>
          <a:prstGeom prst="rect">
            <a:avLst/>
          </a:prstGeom>
          <a:solidFill>
            <a:srgbClr val="FFFFFF"/>
          </a:solidFill>
          <a:ln w="15240">
            <a:solidFill>
              <a:srgbClr val="10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prepare context document folded corner 0"/>
          <p:cNvCxnSpPr/>
          <p:nvPr/>
        </p:nvCxnSpPr>
        <p:spPr>
          <a:xfrm>
            <a:off x="8787384" y="3959352"/>
            <a:ext cx="0" cy="82296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prepare context document folded corner 1"/>
          <p:cNvCxnSpPr/>
          <p:nvPr/>
        </p:nvCxnSpPr>
        <p:spPr>
          <a:xfrm>
            <a:off x="8787384" y="4041648"/>
            <a:ext cx="82296" cy="0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prepare context document line 15 0"/>
          <p:cNvCxnSpPr/>
          <p:nvPr/>
        </p:nvCxnSpPr>
        <p:spPr>
          <a:xfrm>
            <a:off x="8695944" y="4096512"/>
            <a:ext cx="128016" cy="0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prepare context document line 21 0"/>
          <p:cNvCxnSpPr/>
          <p:nvPr/>
        </p:nvCxnSpPr>
        <p:spPr>
          <a:xfrm>
            <a:off x="8695944" y="4151376"/>
            <a:ext cx="128016" cy="0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prepare context document line 27 0"/>
          <p:cNvCxnSpPr/>
          <p:nvPr/>
        </p:nvCxnSpPr>
        <p:spPr>
          <a:xfrm>
            <a:off x="8695944" y="4206240"/>
            <a:ext cx="128016" cy="0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prepare context label"/>
          <p:cNvSpPr txBox="1"/>
          <p:nvPr/>
        </p:nvSpPr>
        <p:spPr>
          <a:xfrm>
            <a:off x="8933688" y="3931920"/>
            <a:ext cx="120700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1">
                <a:solidFill>
                  <a:srgbClr val="102E83"/>
                </a:solidFill>
                <a:latin typeface="Arial"/>
              </a:defRPr>
            </a:pPr>
            <a:r>
              <a:t>Prepare context</a:t>
            </a:r>
          </a:p>
        </p:txBody>
      </p:sp>
      <p:cxnSp>
        <p:nvCxnSpPr>
          <p:cNvPr id="113" name="prepare and review link 0"/>
          <p:cNvCxnSpPr/>
          <p:nvPr/>
        </p:nvCxnSpPr>
        <p:spPr>
          <a:xfrm>
            <a:off x="10204704" y="4105656"/>
            <a:ext cx="201168" cy="0"/>
          </a:xfrm>
          <a:prstGeom prst="line">
            <a:avLst/>
          </a:prstGeom>
          <a:ln w="17780">
            <a:solidFill>
              <a:srgbClr val="8750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view learn operation"/>
          <p:cNvSpPr/>
          <p:nvPr/>
        </p:nvSpPr>
        <p:spPr>
          <a:xfrm>
            <a:off x="10433304" y="3877056"/>
            <a:ext cx="1572768" cy="457200"/>
          </a:xfrm>
          <a:prstGeom prst="roundRect">
            <a:avLst>
              <a:gd name="adj" fmla="val 8000"/>
            </a:avLst>
          </a:prstGeom>
          <a:solidFill>
            <a:srgbClr val="FCF9FF"/>
          </a:solidFill>
          <a:ln w="12700">
            <a:solidFill>
              <a:srgbClr val="875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view learn lens"/>
          <p:cNvSpPr/>
          <p:nvPr/>
        </p:nvSpPr>
        <p:spPr>
          <a:xfrm>
            <a:off x="10570464" y="3968496"/>
            <a:ext cx="201168" cy="201168"/>
          </a:xfrm>
          <a:prstGeom prst="ellipse">
            <a:avLst/>
          </a:prstGeom>
          <a:noFill/>
          <a:ln w="20320">
            <a:solidFill>
              <a:srgbClr val="10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6" name="review learn lens handle 0"/>
          <p:cNvCxnSpPr/>
          <p:nvPr/>
        </p:nvCxnSpPr>
        <p:spPr>
          <a:xfrm>
            <a:off x="10737433" y="4135465"/>
            <a:ext cx="104607" cy="104607"/>
          </a:xfrm>
          <a:prstGeom prst="line">
            <a:avLst/>
          </a:prstGeom>
          <a:ln w="2540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view learn label"/>
          <p:cNvSpPr txBox="1"/>
          <p:nvPr/>
        </p:nvSpPr>
        <p:spPr>
          <a:xfrm>
            <a:off x="10890504" y="3931920"/>
            <a:ext cx="1069848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1">
                <a:solidFill>
                  <a:srgbClr val="102E83"/>
                </a:solidFill>
                <a:latin typeface="Arial"/>
              </a:defRPr>
            </a:pPr>
            <a:r>
              <a:t>Review / learn</a:t>
            </a:r>
          </a:p>
        </p:txBody>
      </p:sp>
      <p:cxnSp>
        <p:nvCxnSpPr>
          <p:cNvPr id="118" name="episode start preparation 0"/>
          <p:cNvCxnSpPr/>
          <p:nvPr/>
        </p:nvCxnSpPr>
        <p:spPr>
          <a:xfrm>
            <a:off x="8138160" y="4105656"/>
            <a:ext cx="210312" cy="0"/>
          </a:xfrm>
          <a:prstGeom prst="line">
            <a:avLst/>
          </a:prstGeom>
          <a:ln w="25400">
            <a:solidFill>
              <a:srgbClr val="8750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episode start label"/>
          <p:cNvSpPr txBox="1"/>
          <p:nvPr/>
        </p:nvSpPr>
        <p:spPr>
          <a:xfrm>
            <a:off x="7525512" y="3922776"/>
            <a:ext cx="612648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45" b="0">
                <a:solidFill>
                  <a:srgbClr val="102E83"/>
                </a:solidFill>
                <a:latin typeface="Arial"/>
              </a:defRPr>
            </a:pPr>
            <a:r>
              <a:t>Episode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45" b="0">
                <a:solidFill>
                  <a:srgbClr val="102E83"/>
                </a:solidFill>
                <a:latin typeface="Arial"/>
              </a:defRPr>
            </a:pPr>
            <a:r>
              <a:t>start</a:t>
            </a:r>
          </a:p>
        </p:txBody>
      </p:sp>
      <p:cxnSp>
        <p:nvCxnSpPr>
          <p:cNvPr id="120" name="on demand management 0"/>
          <p:cNvCxnSpPr/>
          <p:nvPr/>
        </p:nvCxnSpPr>
        <p:spPr>
          <a:xfrm>
            <a:off x="8823960" y="3108960"/>
            <a:ext cx="0" cy="356616"/>
          </a:xfrm>
          <a:prstGeom prst="line">
            <a:avLst/>
          </a:prstGeom>
          <a:ln w="26670">
            <a:solidFill>
              <a:srgbClr val="8750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on demand label"/>
          <p:cNvSpPr txBox="1"/>
          <p:nvPr/>
        </p:nvSpPr>
        <p:spPr>
          <a:xfrm>
            <a:off x="9180576" y="3191256"/>
            <a:ext cx="1152144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0">
                <a:solidFill>
                  <a:srgbClr val="8750B5"/>
                </a:solidFill>
                <a:latin typeface="Arial"/>
              </a:defRPr>
            </a:pPr>
            <a:r>
              <a:t>On demand</a:t>
            </a:r>
          </a:p>
        </p:txBody>
      </p:sp>
      <p:cxnSp>
        <p:nvCxnSpPr>
          <p:cNvPr id="122" name="brief and evidence return 0"/>
          <p:cNvCxnSpPr/>
          <p:nvPr/>
        </p:nvCxnSpPr>
        <p:spPr>
          <a:xfrm flipV="1">
            <a:off x="10433304" y="3118104"/>
            <a:ext cx="0" cy="347472"/>
          </a:xfrm>
          <a:prstGeom prst="line">
            <a:avLst/>
          </a:prstGeom>
          <a:ln w="26670">
            <a:solidFill>
              <a:srgbClr val="8750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brief evidence label"/>
          <p:cNvSpPr txBox="1"/>
          <p:nvPr/>
        </p:nvSpPr>
        <p:spPr>
          <a:xfrm>
            <a:off x="10671048" y="3191256"/>
            <a:ext cx="1508760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32" b="0">
                <a:solidFill>
                  <a:srgbClr val="8750B5"/>
                </a:solidFill>
                <a:latin typeface="Arial"/>
              </a:defRPr>
            </a:pPr>
            <a:r>
              <a:t>Brief / evidence</a:t>
            </a:r>
          </a:p>
        </p:txBody>
      </p:sp>
      <p:sp>
        <p:nvSpPr>
          <p:cNvPr id="124" name="host source scope gate"/>
          <p:cNvSpPr/>
          <p:nvPr/>
        </p:nvSpPr>
        <p:spPr>
          <a:xfrm>
            <a:off x="12225528" y="3813048"/>
            <a:ext cx="292608" cy="356616"/>
          </a:xfrm>
          <a:custGeom>
            <a:avLst/>
            <a:gdLst/>
            <a:ahLst/>
            <a:cxnLst/>
            <a:rect l="l" t="t" r="r" b="b"/>
            <a:pathLst>
              <a:path w="320" h="390">
                <a:moveTo>
                  <a:pt x="0" y="0"/>
                </a:moveTo>
                <a:lnTo>
                  <a:pt x="320" y="0"/>
                </a:lnTo>
                <a:lnTo>
                  <a:pt x="320" y="235"/>
                </a:lnTo>
                <a:lnTo>
                  <a:pt x="160" y="390"/>
                </a:lnTo>
                <a:lnTo>
                  <a:pt x="0" y="235"/>
                </a:lnTo>
                <a:close/>
              </a:path>
            </a:pathLst>
          </a:custGeom>
          <a:solidFill>
            <a:srgbClr val="F0E6FA"/>
          </a:solidFill>
          <a:ln w="17780">
            <a:solidFill>
              <a:srgbClr val="875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host source scope check 0"/>
          <p:cNvCxnSpPr/>
          <p:nvPr/>
        </p:nvCxnSpPr>
        <p:spPr>
          <a:xfrm>
            <a:off x="12298680" y="3984223"/>
            <a:ext cx="44805" cy="44806"/>
          </a:xfrm>
          <a:prstGeom prst="line">
            <a:avLst/>
          </a:prstGeom>
          <a:ln w="25400">
            <a:solidFill>
              <a:srgbClr val="875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host source scope check 1"/>
          <p:cNvCxnSpPr/>
          <p:nvPr/>
        </p:nvCxnSpPr>
        <p:spPr>
          <a:xfrm flipV="1">
            <a:off x="12343485" y="3922776"/>
            <a:ext cx="83211" cy="106253"/>
          </a:xfrm>
          <a:prstGeom prst="line">
            <a:avLst/>
          </a:prstGeom>
          <a:ln w="25400">
            <a:solidFill>
              <a:srgbClr val="875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manager to host checks 0"/>
          <p:cNvCxnSpPr/>
          <p:nvPr/>
        </p:nvCxnSpPr>
        <p:spPr>
          <a:xfrm>
            <a:off x="12188952" y="4032504"/>
            <a:ext cx="36576" cy="0"/>
          </a:xfrm>
          <a:prstGeom prst="line">
            <a:avLst/>
          </a:prstGeom>
          <a:ln w="21590">
            <a:solidFill>
              <a:srgbClr val="8750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source scope label"/>
          <p:cNvSpPr txBox="1"/>
          <p:nvPr/>
        </p:nvSpPr>
        <p:spPr>
          <a:xfrm>
            <a:off x="12582144" y="3721608"/>
            <a:ext cx="1271016" cy="3383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102E83"/>
                </a:solidFill>
                <a:latin typeface="Arial"/>
              </a:defRPr>
            </a:pPr>
            <a:r>
              <a:t>Source / scope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0">
                <a:solidFill>
                  <a:srgbClr val="102E83"/>
                </a:solidFill>
                <a:latin typeface="Arial"/>
              </a:defRPr>
            </a:pPr>
            <a:r>
              <a:t>checks</a:t>
            </a:r>
          </a:p>
        </p:txBody>
      </p:sp>
      <p:cxnSp>
        <p:nvCxnSpPr>
          <p:cNvPr id="129" name="checked append input 0"/>
          <p:cNvCxnSpPr/>
          <p:nvPr/>
        </p:nvCxnSpPr>
        <p:spPr>
          <a:xfrm>
            <a:off x="12371832" y="4187952"/>
            <a:ext cx="0" cy="36576"/>
          </a:xfrm>
          <a:prstGeom prst="line">
            <a:avLst/>
          </a:prstGeom>
          <a:ln w="21590">
            <a:solidFill>
              <a:srgbClr val="875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hecked append input 1"/>
          <p:cNvCxnSpPr/>
          <p:nvPr/>
        </p:nvCxnSpPr>
        <p:spPr>
          <a:xfrm>
            <a:off x="12371832" y="4224528"/>
            <a:ext cx="219456" cy="0"/>
          </a:xfrm>
          <a:prstGeom prst="line">
            <a:avLst/>
          </a:prstGeom>
          <a:ln w="21590">
            <a:solidFill>
              <a:srgbClr val="8750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append revise operation"/>
          <p:cNvSpPr/>
          <p:nvPr/>
        </p:nvSpPr>
        <p:spPr>
          <a:xfrm>
            <a:off x="12591288" y="4069080"/>
            <a:ext cx="1252728" cy="2560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75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append revise text"/>
          <p:cNvSpPr txBox="1"/>
          <p:nvPr/>
        </p:nvSpPr>
        <p:spPr>
          <a:xfrm>
            <a:off x="12609576" y="4078224"/>
            <a:ext cx="1207008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38" b="1">
                <a:solidFill>
                  <a:srgbClr val="8750B5"/>
                </a:solidFill>
                <a:latin typeface="Arial"/>
              </a:defRPr>
            </a:pPr>
            <a:r>
              <a:t>Append / revise</a:t>
            </a:r>
          </a:p>
        </p:txBody>
      </p:sp>
      <p:cxnSp>
        <p:nvCxnSpPr>
          <p:cNvPr id="133" name="checked experience write 0"/>
          <p:cNvCxnSpPr/>
          <p:nvPr/>
        </p:nvCxnSpPr>
        <p:spPr>
          <a:xfrm>
            <a:off x="13871448" y="4197096"/>
            <a:ext cx="73152" cy="0"/>
          </a:xfrm>
          <a:prstGeom prst="line">
            <a:avLst/>
          </a:prstGeom>
          <a:ln w="26670">
            <a:solidFill>
              <a:srgbClr val="8750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hecked experience write 1"/>
          <p:cNvCxnSpPr/>
          <p:nvPr/>
        </p:nvCxnSpPr>
        <p:spPr>
          <a:xfrm>
            <a:off x="13944600" y="4197096"/>
            <a:ext cx="0" cy="512064"/>
          </a:xfrm>
          <a:prstGeom prst="line">
            <a:avLst/>
          </a:prstGeom>
          <a:ln w="26670">
            <a:solidFill>
              <a:srgbClr val="8750B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manager reads library 0"/>
          <p:cNvCxnSpPr/>
          <p:nvPr/>
        </p:nvCxnSpPr>
        <p:spPr>
          <a:xfrm flipV="1">
            <a:off x="11558016" y="4416552"/>
            <a:ext cx="0" cy="301752"/>
          </a:xfrm>
          <a:prstGeom prst="line">
            <a:avLst/>
          </a:prstGeom>
          <a:ln w="26670">
            <a:solidFill>
              <a:srgbClr val="4796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manager read label"/>
          <p:cNvSpPr txBox="1"/>
          <p:nvPr/>
        </p:nvSpPr>
        <p:spPr>
          <a:xfrm>
            <a:off x="11740896" y="4443984"/>
            <a:ext cx="576072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04" b="1">
                <a:solidFill>
                  <a:srgbClr val="225C21"/>
                </a:solidFill>
                <a:latin typeface="Arial"/>
              </a:defRPr>
            </a:pPr>
            <a:r>
              <a:t>Read</a:t>
            </a:r>
          </a:p>
        </p:txBody>
      </p:sp>
      <p:cxnSp>
        <p:nvCxnSpPr>
          <p:cNvPr id="137" name="retrieval reads library 0"/>
          <p:cNvCxnSpPr/>
          <p:nvPr/>
        </p:nvCxnSpPr>
        <p:spPr>
          <a:xfrm flipV="1">
            <a:off x="14118336" y="3273552"/>
            <a:ext cx="0" cy="1444752"/>
          </a:xfrm>
          <a:prstGeom prst="line">
            <a:avLst/>
          </a:prstGeom>
          <a:ln w="27940">
            <a:solidFill>
              <a:srgbClr val="4796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trieval read label"/>
          <p:cNvSpPr txBox="1"/>
          <p:nvPr/>
        </p:nvSpPr>
        <p:spPr>
          <a:xfrm>
            <a:off x="14191488" y="3858768"/>
            <a:ext cx="46634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68" b="1">
                <a:solidFill>
                  <a:srgbClr val="225C21"/>
                </a:solidFill>
                <a:latin typeface="Arial"/>
              </a:defRPr>
            </a:pPr>
            <a:r>
              <a:t>Read</a:t>
            </a:r>
          </a:p>
        </p:txBody>
      </p:sp>
      <p:sp>
        <p:nvSpPr>
          <p:cNvPr id="139" name="library outer"/>
          <p:cNvSpPr/>
          <p:nvPr/>
        </p:nvSpPr>
        <p:spPr>
          <a:xfrm>
            <a:off x="118872" y="4745736"/>
            <a:ext cx="14502384" cy="39410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6670">
            <a:solidFill>
              <a:srgbClr val="479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library header"/>
          <p:cNvSpPr/>
          <p:nvPr/>
        </p:nvSpPr>
        <p:spPr>
          <a:xfrm>
            <a:off x="5001768" y="4617720"/>
            <a:ext cx="4718304" cy="475488"/>
          </a:xfrm>
          <a:prstGeom prst="roundRect">
            <a:avLst>
              <a:gd name="adj" fmla="val 8000"/>
            </a:avLst>
          </a:prstGeom>
          <a:solidFill>
            <a:srgbClr val="F0F7EA"/>
          </a:solidFill>
          <a:ln w="26670">
            <a:solidFill>
              <a:srgbClr val="479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library heading"/>
          <p:cNvSpPr txBox="1"/>
          <p:nvPr/>
        </p:nvSpPr>
        <p:spPr>
          <a:xfrm>
            <a:off x="5138928" y="4681728"/>
            <a:ext cx="4443984" cy="3566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081D36"/>
                </a:solidFill>
                <a:latin typeface="Arial"/>
              </a:defRPr>
            </a:pPr>
            <a:r>
              <a:t>(c) Structured experience library</a:t>
            </a:r>
          </a:p>
        </p:txBody>
      </p:sp>
      <p:sp>
        <p:nvSpPr>
          <p:cNvPr id="142" name="organization strip"/>
          <p:cNvSpPr/>
          <p:nvPr/>
        </p:nvSpPr>
        <p:spPr>
          <a:xfrm>
            <a:off x="237744" y="5102352"/>
            <a:ext cx="14246352" cy="265176"/>
          </a:xfrm>
          <a:prstGeom prst="roundRect">
            <a:avLst>
              <a:gd name="adj" fmla="val 8000"/>
            </a:avLst>
          </a:prstGeom>
          <a:solidFill>
            <a:srgbClr val="EBF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rganization label"/>
          <p:cNvSpPr txBox="1"/>
          <p:nvPr/>
        </p:nvSpPr>
        <p:spPr>
          <a:xfrm>
            <a:off x="411480" y="5111496"/>
            <a:ext cx="13898880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225C21"/>
                </a:solidFill>
                <a:latin typeface="Arial"/>
              </a:defRPr>
            </a:pPr>
            <a:r>
              <a:t>Organized by body, interaction relation and conditions</a:t>
            </a:r>
          </a:p>
        </p:txBody>
      </p:sp>
      <p:sp>
        <p:nvSpPr>
          <p:cNvPr id="144" name="column Raw evidence"/>
          <p:cNvSpPr/>
          <p:nvPr/>
        </p:nvSpPr>
        <p:spPr>
          <a:xfrm>
            <a:off x="1545336" y="5404104"/>
            <a:ext cx="3319272" cy="292608"/>
          </a:xfrm>
          <a:prstGeom prst="roundRect">
            <a:avLst>
              <a:gd name="adj" fmla="val 8000"/>
            </a:avLst>
          </a:prstGeom>
          <a:solidFill>
            <a:srgbClr val="E5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column Raw evidence title"/>
          <p:cNvSpPr txBox="1"/>
          <p:nvPr/>
        </p:nvSpPr>
        <p:spPr>
          <a:xfrm>
            <a:off x="1591056" y="5422392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28" b="1">
                <a:solidFill>
                  <a:srgbClr val="102E83"/>
                </a:solidFill>
                <a:latin typeface="Arial"/>
              </a:defRPr>
            </a:pPr>
            <a:r>
              <a:t>Raw evidence</a:t>
            </a:r>
          </a:p>
        </p:txBody>
      </p:sp>
      <p:sp>
        <p:nvSpPr>
          <p:cNvPr id="146" name="column Conditional cases"/>
          <p:cNvSpPr/>
          <p:nvPr/>
        </p:nvSpPr>
        <p:spPr>
          <a:xfrm>
            <a:off x="5431536" y="5404104"/>
            <a:ext cx="4160520" cy="292608"/>
          </a:xfrm>
          <a:prstGeom prst="roundRect">
            <a:avLst>
              <a:gd name="adj" fmla="val 8000"/>
            </a:avLst>
          </a:prstGeom>
          <a:solidFill>
            <a:srgbClr val="E5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column Conditional cases title"/>
          <p:cNvSpPr txBox="1"/>
          <p:nvPr/>
        </p:nvSpPr>
        <p:spPr>
          <a:xfrm>
            <a:off x="5477256" y="5422392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28" b="1">
                <a:solidFill>
                  <a:srgbClr val="102E83"/>
                </a:solidFill>
                <a:latin typeface="Arial"/>
              </a:defRPr>
            </a:pPr>
            <a:r>
              <a:t>Conditional cases</a:t>
            </a:r>
          </a:p>
        </p:txBody>
      </p:sp>
      <p:sp>
        <p:nvSpPr>
          <p:cNvPr id="148" name="column Reusable knowledge"/>
          <p:cNvSpPr/>
          <p:nvPr/>
        </p:nvSpPr>
        <p:spPr>
          <a:xfrm>
            <a:off x="10094976" y="5404104"/>
            <a:ext cx="4389120" cy="292608"/>
          </a:xfrm>
          <a:prstGeom prst="roundRect">
            <a:avLst>
              <a:gd name="adj" fmla="val 8000"/>
            </a:avLst>
          </a:prstGeom>
          <a:solidFill>
            <a:srgbClr val="E5F2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column Reusable knowledge title"/>
          <p:cNvSpPr txBox="1"/>
          <p:nvPr/>
        </p:nvSpPr>
        <p:spPr>
          <a:xfrm>
            <a:off x="10140696" y="5422392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728" b="1">
                <a:solidFill>
                  <a:srgbClr val="102E83"/>
                </a:solidFill>
                <a:latin typeface="Arial"/>
              </a:defRPr>
            </a:pPr>
            <a:r>
              <a:t>Reusable knowledge</a:t>
            </a:r>
          </a:p>
        </p:txBody>
      </p:sp>
      <p:cxnSp>
        <p:nvCxnSpPr>
          <p:cNvPr id="150" name="evidence to case heading 0"/>
          <p:cNvCxnSpPr/>
          <p:nvPr/>
        </p:nvCxnSpPr>
        <p:spPr>
          <a:xfrm>
            <a:off x="4919472" y="5559552"/>
            <a:ext cx="457200" cy="0"/>
          </a:xfrm>
          <a:prstGeom prst="line">
            <a:avLst/>
          </a:prstGeom>
          <a:ln w="21590">
            <a:solidFill>
              <a:srgbClr val="4796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case to knowledge heading 0"/>
          <p:cNvCxnSpPr/>
          <p:nvPr/>
        </p:nvCxnSpPr>
        <p:spPr>
          <a:xfrm>
            <a:off x="9656064" y="5559552"/>
            <a:ext cx="393192" cy="0"/>
          </a:xfrm>
          <a:prstGeom prst="line">
            <a:avLst/>
          </a:prstGeom>
          <a:ln w="21590">
            <a:solidFill>
              <a:srgbClr val="4796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body raw row"/>
          <p:cNvSpPr/>
          <p:nvPr/>
        </p:nvSpPr>
        <p:spPr>
          <a:xfrm>
            <a:off x="237744" y="5751576"/>
            <a:ext cx="484632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7DB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body domain"/>
          <p:cNvSpPr/>
          <p:nvPr/>
        </p:nvSpPr>
        <p:spPr>
          <a:xfrm>
            <a:off x="246888" y="5760720"/>
            <a:ext cx="1307592" cy="1060704"/>
          </a:xfrm>
          <a:prstGeom prst="rect">
            <a:avLst/>
          </a:prstGeom>
          <a:solidFill>
            <a:srgbClr val="E9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body domain title"/>
          <p:cNvSpPr txBox="1"/>
          <p:nvPr/>
        </p:nvSpPr>
        <p:spPr>
          <a:xfrm>
            <a:off x="347472" y="5852160"/>
            <a:ext cx="113385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160" b="1">
                <a:solidFill>
                  <a:srgbClr val="102E83"/>
                </a:solidFill>
                <a:latin typeface="Arial"/>
              </a:defRPr>
            </a:pPr>
            <a:r>
              <a:t>Body</a:t>
            </a:r>
          </a:p>
        </p:txBody>
      </p:sp>
      <p:sp>
        <p:nvSpPr>
          <p:cNvPr id="155" name="body domain content"/>
          <p:cNvSpPr txBox="1"/>
          <p:nvPr/>
        </p:nvSpPr>
        <p:spPr>
          <a:xfrm>
            <a:off x="347472" y="6199632"/>
            <a:ext cx="1152144" cy="5760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74" b="0">
                <a:solidFill>
                  <a:srgbClr val="102E83"/>
                </a:solidFill>
                <a:latin typeface="Arial"/>
              </a:defRPr>
            </a:pPr>
            <a:r>
              <a:t>Geometry 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74" b="0">
                <a:solidFill>
                  <a:srgbClr val="102E83"/>
                </a:solidFill>
                <a:latin typeface="Arial"/>
              </a:defRPr>
            </a:pPr>
            <a:r>
              <a:t>tool mounting 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74" b="0">
                <a:solidFill>
                  <a:srgbClr val="102E83"/>
                </a:solidFill>
                <a:latin typeface="Arial"/>
              </a:defRPr>
            </a:pPr>
            <a:r>
              <a:t>visual action</a:t>
            </a:r>
          </a:p>
        </p:txBody>
      </p:sp>
      <p:pic>
        <p:nvPicPr>
          <p:cNvPr id="156" name="raw marker body relation" descr="real_pen.jpg"/>
          <p:cNvPicPr>
            <a:picLocks noChangeAspect="1"/>
          </p:cNvPicPr>
          <p:nvPr/>
        </p:nvPicPr>
        <p:blipFill>
          <a:blip r:embed="rId2"/>
          <a:srcRect l="33000" r="12000" t="37465" b="33465"/>
          <a:stretch>
            <a:fillRect/>
          </a:stretch>
        </p:blipFill>
        <p:spPr>
          <a:xfrm>
            <a:off x="1627632" y="5788152"/>
            <a:ext cx="3383280" cy="1005840"/>
          </a:xfrm>
          <a:prstGeom prst="rect">
            <a:avLst/>
          </a:prstGeom>
        </p:spPr>
      </p:pic>
      <p:sp>
        <p:nvSpPr>
          <p:cNvPr id="157" name="raw marker body relation border"/>
          <p:cNvSpPr/>
          <p:nvPr/>
        </p:nvSpPr>
        <p:spPr>
          <a:xfrm>
            <a:off x="1627632" y="5788152"/>
            <a:ext cx="3383280" cy="1005840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raw marker mounting relation 0"/>
          <p:cNvCxnSpPr/>
          <p:nvPr/>
        </p:nvCxnSpPr>
        <p:spPr>
          <a:xfrm flipH="1">
            <a:off x="3105894" y="6212256"/>
            <a:ext cx="269125" cy="216261"/>
          </a:xfrm>
          <a:prstGeom prst="line">
            <a:avLst/>
          </a:prstGeom>
          <a:ln w="20320">
            <a:solidFill>
              <a:srgbClr val="0874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aw marker EEF reference"/>
          <p:cNvSpPr/>
          <p:nvPr/>
        </p:nvSpPr>
        <p:spPr>
          <a:xfrm>
            <a:off x="3329299" y="6166536"/>
            <a:ext cx="91440" cy="91440"/>
          </a:xfrm>
          <a:prstGeom prst="ellipse">
            <a:avLst/>
          </a:prstGeom>
          <a:solidFill>
            <a:srgbClr val="0874E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aw marker visible tip"/>
          <p:cNvSpPr/>
          <p:nvPr/>
        </p:nvSpPr>
        <p:spPr>
          <a:xfrm>
            <a:off x="3060174" y="6382797"/>
            <a:ext cx="91440" cy="91440"/>
          </a:xfrm>
          <a:prstGeom prst="ellipse">
            <a:avLst/>
          </a:prstGeom>
          <a:solidFill>
            <a:srgbClr val="F4771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aw marker EEF label plate"/>
          <p:cNvSpPr/>
          <p:nvPr/>
        </p:nvSpPr>
        <p:spPr>
          <a:xfrm>
            <a:off x="3466459" y="5992800"/>
            <a:ext cx="65836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aw marker EEF label"/>
          <p:cNvSpPr txBox="1"/>
          <p:nvPr/>
        </p:nvSpPr>
        <p:spPr>
          <a:xfrm>
            <a:off x="3466459" y="5992800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1">
                <a:solidFill>
                  <a:srgbClr val="0874EF"/>
                </a:solidFill>
                <a:latin typeface="Arial"/>
              </a:defRPr>
            </a:pPr>
            <a:r>
              <a:t>EEF ref.</a:t>
            </a:r>
          </a:p>
        </p:txBody>
      </p:sp>
      <p:cxnSp>
        <p:nvCxnSpPr>
          <p:cNvPr id="163" name="raw marker EEF label leader 0"/>
          <p:cNvCxnSpPr/>
          <p:nvPr/>
        </p:nvCxnSpPr>
        <p:spPr>
          <a:xfrm flipH="1">
            <a:off x="3402451" y="6148248"/>
            <a:ext cx="54864" cy="45720"/>
          </a:xfrm>
          <a:prstGeom prst="line">
            <a:avLst/>
          </a:prstGeom>
          <a:ln w="1143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raw marker tip label plate"/>
          <p:cNvSpPr/>
          <p:nvPr/>
        </p:nvSpPr>
        <p:spPr>
          <a:xfrm>
            <a:off x="3197334" y="6465093"/>
            <a:ext cx="37490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aw marker tip label"/>
          <p:cNvSpPr txBox="1"/>
          <p:nvPr/>
        </p:nvSpPr>
        <p:spPr>
          <a:xfrm>
            <a:off x="3197334" y="6465093"/>
            <a:ext cx="37490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24" b="1">
                <a:solidFill>
                  <a:srgbClr val="F4771E"/>
                </a:solidFill>
                <a:latin typeface="Arial"/>
              </a:defRPr>
            </a:pPr>
            <a:r>
              <a:t>Tip</a:t>
            </a:r>
          </a:p>
        </p:txBody>
      </p:sp>
      <p:cxnSp>
        <p:nvCxnSpPr>
          <p:cNvPr id="166" name="body raw to case 0"/>
          <p:cNvCxnSpPr/>
          <p:nvPr/>
        </p:nvCxnSpPr>
        <p:spPr>
          <a:xfrm>
            <a:off x="5111496" y="6300216"/>
            <a:ext cx="192024" cy="0"/>
          </a:xfrm>
          <a:prstGeom prst="line">
            <a:avLst/>
          </a:prstGeom>
          <a:ln w="15240">
            <a:solidFill>
              <a:srgbClr val="2479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body conditional"/>
          <p:cNvSpPr/>
          <p:nvPr/>
        </p:nvSpPr>
        <p:spPr>
          <a:xfrm>
            <a:off x="5330952" y="5751576"/>
            <a:ext cx="4370832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7DB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marker mounting case" descr="real_pen.jpg"/>
          <p:cNvPicPr>
            <a:picLocks noChangeAspect="1"/>
          </p:cNvPicPr>
          <p:nvPr/>
        </p:nvPicPr>
        <p:blipFill>
          <a:blip r:embed="rId2"/>
          <a:srcRect l="46333" r="28333" t="34000" b="35000"/>
          <a:stretch>
            <a:fillRect/>
          </a:stretch>
        </p:blipFill>
        <p:spPr>
          <a:xfrm>
            <a:off x="5440680" y="5806440"/>
            <a:ext cx="1408176" cy="969264"/>
          </a:xfrm>
          <a:prstGeom prst="rect">
            <a:avLst/>
          </a:prstGeom>
        </p:spPr>
      </p:pic>
      <p:sp>
        <p:nvSpPr>
          <p:cNvPr id="169" name="marker mounting case border"/>
          <p:cNvSpPr/>
          <p:nvPr/>
        </p:nvSpPr>
        <p:spPr>
          <a:xfrm>
            <a:off x="5440680" y="5806440"/>
            <a:ext cx="1408176" cy="969264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body case heading"/>
          <p:cNvSpPr txBox="1"/>
          <p:nvPr/>
        </p:nvSpPr>
        <p:spPr>
          <a:xfrm>
            <a:off x="6995160" y="5797296"/>
            <a:ext cx="2587752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102E83"/>
                </a:solidFill>
                <a:latin typeface="Arial"/>
              </a:defRPr>
            </a:pPr>
            <a:r>
              <a:t>Tool-dependent offset</a:t>
            </a:r>
          </a:p>
        </p:txBody>
      </p:sp>
      <p:sp>
        <p:nvSpPr>
          <p:cNvPr id="171" name="case EEF reference"/>
          <p:cNvSpPr/>
          <p:nvPr/>
        </p:nvSpPr>
        <p:spPr>
          <a:xfrm>
            <a:off x="6967728" y="6153912"/>
            <a:ext cx="109728" cy="109728"/>
          </a:xfrm>
          <a:prstGeom prst="ellipse">
            <a:avLst/>
          </a:prstGeom>
          <a:solidFill>
            <a:srgbClr val="0874E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case functional tip"/>
          <p:cNvSpPr/>
          <p:nvPr/>
        </p:nvSpPr>
        <p:spPr>
          <a:xfrm>
            <a:off x="6967728" y="6501384"/>
            <a:ext cx="109728" cy="109728"/>
          </a:xfrm>
          <a:prstGeom prst="ellipse">
            <a:avLst/>
          </a:prstGeom>
          <a:solidFill>
            <a:srgbClr val="F4771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ase body relationship 0"/>
          <p:cNvCxnSpPr/>
          <p:nvPr/>
        </p:nvCxnSpPr>
        <p:spPr>
          <a:xfrm>
            <a:off x="7022592" y="6272784"/>
            <a:ext cx="0" cy="219456"/>
          </a:xfrm>
          <a:prstGeom prst="line">
            <a:avLst/>
          </a:prstGeom>
          <a:ln w="19050">
            <a:solidFill>
              <a:srgbClr val="0874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case EEF meaning"/>
          <p:cNvSpPr txBox="1"/>
          <p:nvPr/>
        </p:nvSpPr>
        <p:spPr>
          <a:xfrm>
            <a:off x="7178040" y="6126480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16" b="0">
                <a:solidFill>
                  <a:srgbClr val="0874EF"/>
                </a:solidFill>
                <a:latin typeface="Arial"/>
              </a:defRPr>
            </a:pPr>
            <a:r>
              <a:t>EEF command</a:t>
            </a:r>
          </a:p>
        </p:txBody>
      </p:sp>
      <p:sp>
        <p:nvSpPr>
          <p:cNvPr id="175" name="case tip meaning"/>
          <p:cNvSpPr txBox="1"/>
          <p:nvPr/>
        </p:nvSpPr>
        <p:spPr>
          <a:xfrm>
            <a:off x="7178040" y="6473952"/>
            <a:ext cx="1033271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16" b="0">
                <a:solidFill>
                  <a:srgbClr val="F4771E"/>
                </a:solidFill>
                <a:latin typeface="Arial"/>
              </a:defRPr>
            </a:pPr>
            <a:r>
              <a:t>Tip (functional)</a:t>
            </a:r>
          </a:p>
        </p:txBody>
      </p:sp>
      <p:sp>
        <p:nvSpPr>
          <p:cNvPr id="176" name="tool offset schematic brace"/>
          <p:cNvSpPr/>
          <p:nvPr/>
        </p:nvSpPr>
        <p:spPr>
          <a:xfrm>
            <a:off x="8220456" y="6117336"/>
            <a:ext cx="91440" cy="557784"/>
          </a:xfrm>
          <a:prstGeom prst="rightBrace">
            <a:avLst/>
          </a:prstGeom>
          <a:noFill/>
          <a:ln w="13970">
            <a:solidFill>
              <a:srgbClr val="10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ool dependent relation"/>
          <p:cNvSpPr txBox="1"/>
          <p:nvPr/>
        </p:nvSpPr>
        <p:spPr>
          <a:xfrm>
            <a:off x="8385048" y="6217920"/>
            <a:ext cx="1207008" cy="3931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9" b="0">
                <a:solidFill>
                  <a:srgbClr val="102E83"/>
                </a:solidFill>
                <a:latin typeface="Arial"/>
              </a:defRPr>
            </a:pPr>
            <a:r>
              <a:t>Tool-dependent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9" b="0">
                <a:solidFill>
                  <a:srgbClr val="102E83"/>
                </a:solidFill>
                <a:latin typeface="Arial"/>
              </a:defRPr>
            </a:pPr>
            <a:r>
              <a:t>offset</a:t>
            </a:r>
          </a:p>
        </p:txBody>
      </p:sp>
      <p:sp>
        <p:nvSpPr>
          <p:cNvPr id="178" name="schematic body geometry label"/>
          <p:cNvSpPr txBox="1"/>
          <p:nvPr/>
        </p:nvSpPr>
        <p:spPr>
          <a:xfrm>
            <a:off x="8238744" y="6620256"/>
            <a:ext cx="1362456" cy="1737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37" b="0">
                <a:solidFill>
                  <a:srgbClr val="102E83"/>
                </a:solidFill>
                <a:latin typeface="Arial"/>
              </a:defRPr>
            </a:pPr>
            <a:r>
              <a:t>Schematic geometry</a:t>
            </a:r>
          </a:p>
        </p:txBody>
      </p:sp>
      <p:cxnSp>
        <p:nvCxnSpPr>
          <p:cNvPr id="179" name="body case to reusable 0"/>
          <p:cNvCxnSpPr/>
          <p:nvPr/>
        </p:nvCxnSpPr>
        <p:spPr>
          <a:xfrm>
            <a:off x="9729216" y="6300216"/>
            <a:ext cx="228600" cy="0"/>
          </a:xfrm>
          <a:prstGeom prst="line">
            <a:avLst/>
          </a:prstGeom>
          <a:ln w="15240">
            <a:solidFill>
              <a:srgbClr val="2479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body reusable"/>
          <p:cNvSpPr/>
          <p:nvPr/>
        </p:nvSpPr>
        <p:spPr>
          <a:xfrm>
            <a:off x="9985248" y="5751576"/>
            <a:ext cx="4498848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7DB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1" name="functional marker point photo" descr="real_pen.jpg"/>
          <p:cNvPicPr>
            <a:picLocks noChangeAspect="1"/>
          </p:cNvPicPr>
          <p:nvPr/>
        </p:nvPicPr>
        <p:blipFill>
          <a:blip r:embed="rId2"/>
          <a:srcRect l="47000" r="29000" t="35848" b="31848"/>
          <a:stretch>
            <a:fillRect/>
          </a:stretch>
        </p:blipFill>
        <p:spPr>
          <a:xfrm>
            <a:off x="10076688" y="5824728"/>
            <a:ext cx="1280160" cy="969264"/>
          </a:xfrm>
          <a:prstGeom prst="rect">
            <a:avLst/>
          </a:prstGeom>
        </p:spPr>
      </p:pic>
      <p:sp>
        <p:nvSpPr>
          <p:cNvPr id="182" name="functional marker point photo border"/>
          <p:cNvSpPr/>
          <p:nvPr/>
        </p:nvSpPr>
        <p:spPr>
          <a:xfrm>
            <a:off x="10076688" y="5824728"/>
            <a:ext cx="1280160" cy="969264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functional marker mounting relation 0"/>
          <p:cNvCxnSpPr/>
          <p:nvPr/>
        </p:nvCxnSpPr>
        <p:spPr>
          <a:xfrm flipH="1">
            <a:off x="10611754" y="6241018"/>
            <a:ext cx="233363" cy="187523"/>
          </a:xfrm>
          <a:prstGeom prst="line">
            <a:avLst/>
          </a:prstGeom>
          <a:ln w="20320">
            <a:solidFill>
              <a:srgbClr val="0874E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functional marker EEF reference"/>
          <p:cNvSpPr/>
          <p:nvPr/>
        </p:nvSpPr>
        <p:spPr>
          <a:xfrm>
            <a:off x="10799397" y="6195298"/>
            <a:ext cx="91440" cy="91440"/>
          </a:xfrm>
          <a:prstGeom prst="ellipse">
            <a:avLst/>
          </a:prstGeom>
          <a:solidFill>
            <a:srgbClr val="0874EF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unctional marker visible tip"/>
          <p:cNvSpPr/>
          <p:nvPr/>
        </p:nvSpPr>
        <p:spPr>
          <a:xfrm>
            <a:off x="10566034" y="6382821"/>
            <a:ext cx="91440" cy="91440"/>
          </a:xfrm>
          <a:prstGeom prst="ellipse">
            <a:avLst/>
          </a:prstGeom>
          <a:solidFill>
            <a:srgbClr val="F4771E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functional marker EEF label plate"/>
          <p:cNvSpPr/>
          <p:nvPr/>
        </p:nvSpPr>
        <p:spPr>
          <a:xfrm>
            <a:off x="10918269" y="6012418"/>
            <a:ext cx="45720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functional marker EEF label"/>
          <p:cNvSpPr txBox="1"/>
          <p:nvPr/>
        </p:nvSpPr>
        <p:spPr>
          <a:xfrm>
            <a:off x="10918269" y="601241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2" b="1">
                <a:solidFill>
                  <a:srgbClr val="0874EF"/>
                </a:solidFill>
                <a:latin typeface="Arial"/>
              </a:defRPr>
            </a:pPr>
            <a:r>
              <a:t>EEF</a:t>
            </a:r>
          </a:p>
        </p:txBody>
      </p:sp>
      <p:cxnSp>
        <p:nvCxnSpPr>
          <p:cNvPr id="188" name="functional marker EEF leader 0"/>
          <p:cNvCxnSpPr/>
          <p:nvPr/>
        </p:nvCxnSpPr>
        <p:spPr>
          <a:xfrm flipH="1">
            <a:off x="10863405" y="6177010"/>
            <a:ext cx="54864" cy="54864"/>
          </a:xfrm>
          <a:prstGeom prst="line">
            <a:avLst/>
          </a:prstGeom>
          <a:ln w="11430">
            <a:solidFill>
              <a:srgbClr val="087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functional marker tip label plate"/>
          <p:cNvSpPr/>
          <p:nvPr/>
        </p:nvSpPr>
        <p:spPr>
          <a:xfrm>
            <a:off x="10703194" y="6465117"/>
            <a:ext cx="329184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functional marker tip label"/>
          <p:cNvSpPr txBox="1"/>
          <p:nvPr/>
        </p:nvSpPr>
        <p:spPr>
          <a:xfrm>
            <a:off x="10703194" y="6465117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2" b="1">
                <a:solidFill>
                  <a:srgbClr val="F4771E"/>
                </a:solidFill>
                <a:latin typeface="Arial"/>
              </a:defRPr>
            </a:pPr>
            <a:r>
              <a:t>Tip</a:t>
            </a:r>
          </a:p>
        </p:txBody>
      </p:sp>
      <p:sp>
        <p:nvSpPr>
          <p:cNvPr id="191" name="functional point knowledge title"/>
          <p:cNvSpPr txBox="1"/>
          <p:nvPr/>
        </p:nvSpPr>
        <p:spPr>
          <a:xfrm>
            <a:off x="11411712" y="5797296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102E83"/>
                </a:solidFill>
                <a:latin typeface="Arial"/>
              </a:defRPr>
            </a:pPr>
            <a:r>
              <a:t>Act at the functional point</a:t>
            </a:r>
          </a:p>
        </p:txBody>
      </p:sp>
      <p:sp>
        <p:nvSpPr>
          <p:cNvPr id="192" name="functional point knowledge use"/>
          <p:cNvSpPr txBox="1"/>
          <p:nvPr/>
        </p:nvSpPr>
        <p:spPr>
          <a:xfrm>
            <a:off x="11475720" y="6163056"/>
            <a:ext cx="2889504" cy="4480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03" b="0">
                <a:solidFill>
                  <a:srgbClr val="102E83"/>
                </a:solidFill>
                <a:latin typeface="Arial"/>
              </a:defRPr>
            </a:pPr>
            <a:r>
              <a:t>• Match the tool mounting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03" b="0">
                <a:solidFill>
                  <a:srgbClr val="102E83"/>
                </a:solidFill>
                <a:latin typeface="Arial"/>
              </a:defRPr>
            </a:pPr>
            <a:r>
              <a:t>• Recheck after regrasp</a:t>
            </a:r>
          </a:p>
        </p:txBody>
      </p:sp>
      <p:sp>
        <p:nvSpPr>
          <p:cNvPr id="193" name="external raw row"/>
          <p:cNvSpPr/>
          <p:nvPr/>
        </p:nvSpPr>
        <p:spPr>
          <a:xfrm>
            <a:off x="237744" y="6903720"/>
            <a:ext cx="4846320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A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external domain"/>
          <p:cNvSpPr/>
          <p:nvPr/>
        </p:nvSpPr>
        <p:spPr>
          <a:xfrm>
            <a:off x="246888" y="6912864"/>
            <a:ext cx="1307592" cy="1143000"/>
          </a:xfrm>
          <a:prstGeom prst="rect">
            <a:avLst/>
          </a:prstGeom>
          <a:solidFill>
            <a:srgbClr val="FFF0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external domain title"/>
          <p:cNvSpPr txBox="1"/>
          <p:nvPr/>
        </p:nvSpPr>
        <p:spPr>
          <a:xfrm>
            <a:off x="347472" y="7077456"/>
            <a:ext cx="1133856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2016" b="1">
                <a:solidFill>
                  <a:srgbClr val="F4771E"/>
                </a:solidFill>
                <a:latin typeface="Arial"/>
              </a:defRPr>
            </a:pPr>
            <a:r>
              <a:t>External</a:t>
            </a:r>
          </a:p>
        </p:txBody>
      </p:sp>
      <p:sp>
        <p:nvSpPr>
          <p:cNvPr id="196" name="external domain content"/>
          <p:cNvSpPr txBox="1"/>
          <p:nvPr/>
        </p:nvSpPr>
        <p:spPr>
          <a:xfrm>
            <a:off x="347472" y="7424927"/>
            <a:ext cx="1152144" cy="5760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74" b="0">
                <a:solidFill>
                  <a:srgbClr val="F4771E"/>
                </a:solidFill>
                <a:latin typeface="Arial"/>
              </a:defRPr>
            </a:pPr>
            <a:r>
              <a:t>Grasp 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74" b="0">
                <a:solidFill>
                  <a:srgbClr val="F4771E"/>
                </a:solidFill>
                <a:latin typeface="Arial"/>
              </a:defRPr>
            </a:pPr>
            <a:r>
              <a:t>transform 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74" b="0">
                <a:solidFill>
                  <a:srgbClr val="F4771E"/>
                </a:solidFill>
                <a:latin typeface="Arial"/>
              </a:defRPr>
            </a:pPr>
            <a:r>
              <a:t>interact</a:t>
            </a:r>
          </a:p>
        </p:txBody>
      </p:sp>
      <p:pic>
        <p:nvPicPr>
          <p:cNvPr id="197" name="demonstration exposed key grasp" descr="key_demo_grasp.png"/>
          <p:cNvPicPr>
            <a:picLocks noChangeAspect="1"/>
          </p:cNvPicPr>
          <p:nvPr/>
        </p:nvPicPr>
        <p:blipFill>
          <a:blip r:embed="rId8"/>
          <a:srcRect l="24000" r="26000" t="26847" b="16847"/>
          <a:stretch>
            <a:fillRect/>
          </a:stretch>
        </p:blipFill>
        <p:spPr>
          <a:xfrm>
            <a:off x="1636776" y="6958584"/>
            <a:ext cx="1737360" cy="1033271"/>
          </a:xfrm>
          <a:prstGeom prst="rect">
            <a:avLst/>
          </a:prstGeom>
        </p:spPr>
      </p:pic>
      <p:sp>
        <p:nvSpPr>
          <p:cNvPr id="198" name="demonstration exposed key grasp border"/>
          <p:cNvSpPr/>
          <p:nvPr/>
        </p:nvSpPr>
        <p:spPr>
          <a:xfrm>
            <a:off x="1636776" y="6958584"/>
            <a:ext cx="1737360" cy="1033271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9" name="demonstration target access" descr="key_demo_align.png"/>
          <p:cNvPicPr>
            <a:picLocks noChangeAspect="1"/>
          </p:cNvPicPr>
          <p:nvPr/>
        </p:nvPicPr>
        <p:blipFill>
          <a:blip r:embed="rId11"/>
          <a:srcRect l="12000" r="44000" t="33979" b="9979"/>
          <a:stretch>
            <a:fillRect/>
          </a:stretch>
        </p:blipFill>
        <p:spPr>
          <a:xfrm>
            <a:off x="3465576" y="6958584"/>
            <a:ext cx="1536192" cy="1033271"/>
          </a:xfrm>
          <a:prstGeom prst="rect">
            <a:avLst/>
          </a:prstGeom>
        </p:spPr>
      </p:pic>
      <p:sp>
        <p:nvSpPr>
          <p:cNvPr id="200" name="demonstration target access border"/>
          <p:cNvSpPr/>
          <p:nvPr/>
        </p:nvSpPr>
        <p:spPr>
          <a:xfrm>
            <a:off x="3465576" y="6958584"/>
            <a:ext cx="1536192" cy="1033271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external raw to case 0"/>
          <p:cNvCxnSpPr/>
          <p:nvPr/>
        </p:nvCxnSpPr>
        <p:spPr>
          <a:xfrm>
            <a:off x="5111496" y="7488936"/>
            <a:ext cx="192024" cy="0"/>
          </a:xfrm>
          <a:prstGeom prst="line">
            <a:avLst/>
          </a:prstGeom>
          <a:ln w="15240">
            <a:solidFill>
              <a:srgbClr val="F4771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external conditional"/>
          <p:cNvSpPr/>
          <p:nvPr/>
        </p:nvSpPr>
        <p:spPr>
          <a:xfrm>
            <a:off x="5330952" y="6903720"/>
            <a:ext cx="4370832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A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external candidate heading"/>
          <p:cNvSpPr txBox="1"/>
          <p:nvPr/>
        </p:nvSpPr>
        <p:spPr>
          <a:xfrm>
            <a:off x="5449824" y="6931152"/>
            <a:ext cx="4123944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102E83"/>
                </a:solidFill>
                <a:latin typeface="Arial"/>
              </a:defRPr>
            </a:pPr>
            <a:r>
              <a:t>Demonstration candidate</a:t>
            </a:r>
          </a:p>
        </p:txBody>
      </p:sp>
      <p:pic>
        <p:nvPicPr>
          <p:cNvPr id="204" name="candidate grasp layout" descr="key_demo_grasp.png"/>
          <p:cNvPicPr>
            <a:picLocks noChangeAspect="1"/>
          </p:cNvPicPr>
          <p:nvPr/>
        </p:nvPicPr>
        <p:blipFill>
          <a:blip r:embed="rId8"/>
          <a:srcRect l="28000" r="24000" t="38568" b="31568"/>
          <a:stretch>
            <a:fillRect/>
          </a:stretch>
        </p:blipFill>
        <p:spPr>
          <a:xfrm>
            <a:off x="5440680" y="7187184"/>
            <a:ext cx="1920240" cy="630936"/>
          </a:xfrm>
          <a:prstGeom prst="rect">
            <a:avLst/>
          </a:prstGeom>
        </p:spPr>
      </p:pic>
      <p:sp>
        <p:nvSpPr>
          <p:cNvPr id="205" name="candidate grasp layout border"/>
          <p:cNvSpPr/>
          <p:nvPr/>
        </p:nvSpPr>
        <p:spPr>
          <a:xfrm>
            <a:off x="5440680" y="7187184"/>
            <a:ext cx="1920240" cy="630936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6" name="candidate insertion access" descr="key_demo_align.png"/>
          <p:cNvPicPr>
            <a:picLocks noChangeAspect="1"/>
          </p:cNvPicPr>
          <p:nvPr/>
        </p:nvPicPr>
        <p:blipFill>
          <a:blip r:embed="rId11"/>
          <a:srcRect l="2000" r="40000" t="44765" b="15765"/>
          <a:stretch>
            <a:fillRect/>
          </a:stretch>
        </p:blipFill>
        <p:spPr>
          <a:xfrm>
            <a:off x="7818120" y="7187184"/>
            <a:ext cx="1755648" cy="630936"/>
          </a:xfrm>
          <a:prstGeom prst="rect">
            <a:avLst/>
          </a:prstGeom>
        </p:spPr>
      </p:pic>
      <p:sp>
        <p:nvSpPr>
          <p:cNvPr id="207" name="candidate insertion access border"/>
          <p:cNvSpPr/>
          <p:nvPr/>
        </p:nvSpPr>
        <p:spPr>
          <a:xfrm>
            <a:off x="7818120" y="7187184"/>
            <a:ext cx="1755648" cy="630936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8" name="grasp layout enables access 0"/>
          <p:cNvCxnSpPr/>
          <p:nvPr/>
        </p:nvCxnSpPr>
        <p:spPr>
          <a:xfrm>
            <a:off x="7507224" y="7507224"/>
            <a:ext cx="210312" cy="0"/>
          </a:xfrm>
          <a:prstGeom prst="line">
            <a:avLst/>
          </a:prstGeom>
          <a:ln w="40640">
            <a:solidFill>
              <a:srgbClr val="2479D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grasp layout label"/>
          <p:cNvSpPr txBox="1"/>
          <p:nvPr/>
        </p:nvSpPr>
        <p:spPr>
          <a:xfrm>
            <a:off x="5440680" y="7827264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67" b="0">
                <a:solidFill>
                  <a:srgbClr val="102E83"/>
                </a:solidFill>
                <a:latin typeface="Arial"/>
              </a:defRPr>
            </a:pPr>
            <a:r>
              <a:t>Grasp layout</a:t>
            </a:r>
          </a:p>
        </p:txBody>
      </p:sp>
      <p:sp>
        <p:nvSpPr>
          <p:cNvPr id="210" name="insertion access label"/>
          <p:cNvSpPr txBox="1"/>
          <p:nvPr/>
        </p:nvSpPr>
        <p:spPr>
          <a:xfrm>
            <a:off x="7818120" y="7827264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67" b="0">
                <a:solidFill>
                  <a:srgbClr val="102E83"/>
                </a:solidFill>
                <a:latin typeface="Arial"/>
              </a:defRPr>
            </a:pPr>
            <a:r>
              <a:t>Insertion access</a:t>
            </a:r>
          </a:p>
        </p:txBody>
      </p:sp>
      <p:cxnSp>
        <p:nvCxnSpPr>
          <p:cNvPr id="211" name="external case to reusable 0"/>
          <p:cNvCxnSpPr/>
          <p:nvPr/>
        </p:nvCxnSpPr>
        <p:spPr>
          <a:xfrm>
            <a:off x="9729216" y="7488936"/>
            <a:ext cx="228600" cy="0"/>
          </a:xfrm>
          <a:prstGeom prst="line">
            <a:avLst/>
          </a:prstGeom>
          <a:ln w="15240">
            <a:solidFill>
              <a:srgbClr val="F4771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external reusable"/>
          <p:cNvSpPr/>
          <p:nvPr/>
        </p:nvSpPr>
        <p:spPr>
          <a:xfrm>
            <a:off x="9985248" y="6903720"/>
            <a:ext cx="4498848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E7A6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3" name="downstream access photo" descr="key_demo_align.png"/>
          <p:cNvPicPr>
            <a:picLocks noChangeAspect="1"/>
          </p:cNvPicPr>
          <p:nvPr/>
        </p:nvPicPr>
        <p:blipFill>
          <a:blip r:embed="rId11"/>
          <a:srcRect l="12000" r="40000" t="39377" b="15377"/>
          <a:stretch>
            <a:fillRect/>
          </a:stretch>
        </p:blipFill>
        <p:spPr>
          <a:xfrm>
            <a:off x="10085832" y="6967728"/>
            <a:ext cx="2075688" cy="1033271"/>
          </a:xfrm>
          <a:prstGeom prst="rect">
            <a:avLst/>
          </a:prstGeom>
        </p:spPr>
      </p:pic>
      <p:sp>
        <p:nvSpPr>
          <p:cNvPr id="214" name="downstream access photo border"/>
          <p:cNvSpPr/>
          <p:nvPr/>
        </p:nvSpPr>
        <p:spPr>
          <a:xfrm>
            <a:off x="10085832" y="6967728"/>
            <a:ext cx="2075688" cy="1033271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downstream access title plate"/>
          <p:cNvSpPr/>
          <p:nvPr/>
        </p:nvSpPr>
        <p:spPr>
          <a:xfrm>
            <a:off x="11301984" y="6931152"/>
            <a:ext cx="3072384" cy="246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downstream access title"/>
          <p:cNvSpPr txBox="1"/>
          <p:nvPr/>
        </p:nvSpPr>
        <p:spPr>
          <a:xfrm>
            <a:off x="11301984" y="6931152"/>
            <a:ext cx="3072384" cy="2468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12" b="1">
                <a:solidFill>
                  <a:srgbClr val="102E83"/>
                </a:solidFill>
                <a:latin typeface="Arial"/>
              </a:defRPr>
            </a:pPr>
            <a:r>
              <a:t>Preserve downstream access</a:t>
            </a:r>
          </a:p>
        </p:txBody>
      </p:sp>
      <p:sp>
        <p:nvSpPr>
          <p:cNvPr id="217" name="downstream access use"/>
          <p:cNvSpPr txBox="1"/>
          <p:nvPr/>
        </p:nvSpPr>
        <p:spPr>
          <a:xfrm>
            <a:off x="12289536" y="7178040"/>
            <a:ext cx="2084831" cy="5760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9" b="0">
                <a:solidFill>
                  <a:srgbClr val="102E83"/>
                </a:solidFill>
                <a:latin typeface="Arial"/>
              </a:defRPr>
            </a:pPr>
            <a:r>
              <a:t>• Keep the working end clear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9" b="0">
                <a:solidFill>
                  <a:srgbClr val="102E83"/>
                </a:solidFill>
                <a:latin typeface="Arial"/>
              </a:defRPr>
            </a:pPr>
            <a:r>
              <a:t>• Grasp · object ·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209" b="0">
                <a:solidFill>
                  <a:srgbClr val="102E83"/>
                </a:solidFill>
                <a:latin typeface="Arial"/>
              </a:defRPr>
            </a:pPr>
            <a:r>
              <a:t>  target geometry</a:t>
            </a:r>
          </a:p>
        </p:txBody>
      </p:sp>
      <p:cxnSp>
        <p:nvCxnSpPr>
          <p:cNvPr id="218" name="candidate scope separator 0"/>
          <p:cNvCxnSpPr/>
          <p:nvPr/>
        </p:nvCxnSpPr>
        <p:spPr>
          <a:xfrm>
            <a:off x="12262104" y="7781544"/>
            <a:ext cx="2103120" cy="0"/>
          </a:xfrm>
          <a:prstGeom prst="line">
            <a:avLst/>
          </a:prstGeom>
          <a:ln w="889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candidate applicability note"/>
          <p:cNvSpPr txBox="1"/>
          <p:nvPr/>
        </p:nvSpPr>
        <p:spPr>
          <a:xfrm>
            <a:off x="12243816" y="7818120"/>
            <a:ext cx="2139696" cy="2103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152" b="0">
                <a:solidFill>
                  <a:srgbClr val="102E83"/>
                </a:solidFill>
                <a:latin typeface="Arial"/>
              </a:defRPr>
            </a:pPr>
            <a:r>
              <a:t>Candidate; check current grasp</a:t>
            </a:r>
          </a:p>
        </p:txBody>
      </p:sp>
      <p:sp>
        <p:nvSpPr>
          <p:cNvPr id="220" name="episode history view"/>
          <p:cNvSpPr/>
          <p:nvPr/>
        </p:nvSpPr>
        <p:spPr>
          <a:xfrm>
            <a:off x="265176" y="8174736"/>
            <a:ext cx="6803136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7DB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episode history label plate"/>
          <p:cNvSpPr/>
          <p:nvPr/>
        </p:nvSpPr>
        <p:spPr>
          <a:xfrm>
            <a:off x="274320" y="8183879"/>
            <a:ext cx="1408176" cy="393192"/>
          </a:xfrm>
          <a:prstGeom prst="rect">
            <a:avLst/>
          </a:prstGeom>
          <a:solidFill>
            <a:srgbClr val="E9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episode history heading"/>
          <p:cNvSpPr txBox="1"/>
          <p:nvPr/>
        </p:nvSpPr>
        <p:spPr>
          <a:xfrm>
            <a:off x="320040" y="8211312"/>
            <a:ext cx="132588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332" b="1">
                <a:solidFill>
                  <a:srgbClr val="102E83"/>
                </a:solidFill>
                <a:latin typeface="Arial"/>
              </a:defRPr>
            </a:pPr>
            <a:r>
              <a:t>Episode history</a:t>
            </a:r>
          </a:p>
        </p:txBody>
      </p:sp>
      <p:pic>
        <p:nvPicPr>
          <p:cNvPr id="223" name="episode retained head grasp" descr="key_140.jpg"/>
          <p:cNvPicPr>
            <a:picLocks noChangeAspect="1"/>
          </p:cNvPicPr>
          <p:nvPr/>
        </p:nvPicPr>
        <p:blipFill>
          <a:blip r:embed="rId10"/>
          <a:srcRect l="29000" r="28000" t="39365" b="40365"/>
          <a:stretch>
            <a:fillRect/>
          </a:stretch>
        </p:blipFill>
        <p:spPr>
          <a:xfrm>
            <a:off x="1746504" y="8211312"/>
            <a:ext cx="905256" cy="320040"/>
          </a:xfrm>
          <a:prstGeom prst="rect">
            <a:avLst/>
          </a:prstGeom>
        </p:spPr>
      </p:pic>
      <p:sp>
        <p:nvSpPr>
          <p:cNvPr id="224" name="episode retained head grasp border"/>
          <p:cNvSpPr/>
          <p:nvPr/>
        </p:nvSpPr>
        <p:spPr>
          <a:xfrm>
            <a:off x="1746504" y="8211312"/>
            <a:ext cx="905256" cy="320040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5" name="episode held reorientation" descr="key_160.jpg"/>
          <p:cNvPicPr>
            <a:picLocks noChangeAspect="1"/>
          </p:cNvPicPr>
          <p:nvPr/>
        </p:nvPicPr>
        <p:blipFill>
          <a:blip r:embed="rId12"/>
          <a:srcRect l="31000" r="28000" t="31912" b="42912"/>
          <a:stretch>
            <a:fillRect/>
          </a:stretch>
        </p:blipFill>
        <p:spPr>
          <a:xfrm>
            <a:off x="2871216" y="8211312"/>
            <a:ext cx="694944" cy="320040"/>
          </a:xfrm>
          <a:prstGeom prst="rect">
            <a:avLst/>
          </a:prstGeom>
        </p:spPr>
      </p:pic>
      <p:sp>
        <p:nvSpPr>
          <p:cNvPr id="226" name="episode held reorientation border"/>
          <p:cNvSpPr/>
          <p:nvPr/>
        </p:nvSpPr>
        <p:spPr>
          <a:xfrm>
            <a:off x="2871216" y="8211312"/>
            <a:ext cx="694944" cy="320040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7" name="episode approach" descr="key_200.jpg"/>
          <p:cNvPicPr>
            <a:picLocks noChangeAspect="1"/>
          </p:cNvPicPr>
          <p:nvPr/>
        </p:nvPicPr>
        <p:blipFill>
          <a:blip r:embed="rId9"/>
          <a:srcRect l="48000" r="15000" t="38140" b="39140"/>
          <a:stretch>
            <a:fillRect/>
          </a:stretch>
        </p:blipFill>
        <p:spPr>
          <a:xfrm>
            <a:off x="3785615" y="8211312"/>
            <a:ext cx="694944" cy="320040"/>
          </a:xfrm>
          <a:prstGeom prst="rect">
            <a:avLst/>
          </a:prstGeom>
        </p:spPr>
      </p:pic>
      <p:sp>
        <p:nvSpPr>
          <p:cNvPr id="228" name="episode approach border"/>
          <p:cNvSpPr/>
          <p:nvPr/>
        </p:nvSpPr>
        <p:spPr>
          <a:xfrm>
            <a:off x="3785615" y="8211312"/>
            <a:ext cx="694944" cy="320040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9" name="episode contact view" descr="key_240_wrist.jpg"/>
          <p:cNvPicPr>
            <a:picLocks noChangeAspect="1"/>
          </p:cNvPicPr>
          <p:nvPr/>
        </p:nvPicPr>
        <p:blipFill>
          <a:blip r:embed="rId13"/>
          <a:srcRect l="29000" r="34000" t="25917" b="30917"/>
          <a:stretch>
            <a:fillRect/>
          </a:stretch>
        </p:blipFill>
        <p:spPr>
          <a:xfrm>
            <a:off x="4663440" y="8211312"/>
            <a:ext cx="365760" cy="320040"/>
          </a:xfrm>
          <a:prstGeom prst="rect">
            <a:avLst/>
          </a:prstGeom>
        </p:spPr>
      </p:pic>
      <p:sp>
        <p:nvSpPr>
          <p:cNvPr id="230" name="episode contact view border"/>
          <p:cNvSpPr/>
          <p:nvPr/>
        </p:nvSpPr>
        <p:spPr>
          <a:xfrm>
            <a:off x="4663440" y="8211312"/>
            <a:ext cx="365760" cy="320040"/>
          </a:xfrm>
          <a:prstGeom prst="rect">
            <a:avLst/>
          </a:prstGeom>
          <a:noFill/>
          <a:ln w="10160">
            <a:solidFill>
              <a:srgbClr val="CCD7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episode chronology 0 0"/>
          <p:cNvCxnSpPr/>
          <p:nvPr/>
        </p:nvCxnSpPr>
        <p:spPr>
          <a:xfrm>
            <a:off x="2697480" y="8375904"/>
            <a:ext cx="128016" cy="0"/>
          </a:xfrm>
          <a:prstGeom prst="line">
            <a:avLst/>
          </a:prstGeom>
          <a:ln w="15240">
            <a:solidFill>
              <a:srgbClr val="102E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episode chronology 1 0"/>
          <p:cNvCxnSpPr/>
          <p:nvPr/>
        </p:nvCxnSpPr>
        <p:spPr>
          <a:xfrm>
            <a:off x="3621024" y="8375904"/>
            <a:ext cx="118872" cy="0"/>
          </a:xfrm>
          <a:prstGeom prst="line">
            <a:avLst/>
          </a:prstGeom>
          <a:ln w="15240">
            <a:solidFill>
              <a:srgbClr val="102E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episode chronology 2 0"/>
          <p:cNvCxnSpPr/>
          <p:nvPr/>
        </p:nvCxnSpPr>
        <p:spPr>
          <a:xfrm>
            <a:off x="4526280" y="8375904"/>
            <a:ext cx="91440" cy="0"/>
          </a:xfrm>
          <a:prstGeom prst="line">
            <a:avLst/>
          </a:prstGeom>
          <a:ln w="15240">
            <a:solidFill>
              <a:srgbClr val="102E8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episode further records"/>
          <p:cNvSpPr txBox="1"/>
          <p:nvPr/>
        </p:nvSpPr>
        <p:spPr>
          <a:xfrm>
            <a:off x="5047488" y="8229600"/>
            <a:ext cx="22860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84" b="1">
                <a:solidFill>
                  <a:srgbClr val="102E83"/>
                </a:solidFill>
                <a:latin typeface="Arial"/>
              </a:defRPr>
            </a:pPr>
            <a:r>
              <a:t>…</a:t>
            </a:r>
          </a:p>
        </p:txBody>
      </p:sp>
      <p:sp>
        <p:nvSpPr>
          <p:cNvPr id="235" name="episode source links"/>
          <p:cNvSpPr/>
          <p:nvPr/>
        </p:nvSpPr>
        <p:spPr>
          <a:xfrm>
            <a:off x="5321808" y="8247888"/>
            <a:ext cx="201168" cy="265176"/>
          </a:xfrm>
          <a:prstGeom prst="rect">
            <a:avLst/>
          </a:prstGeom>
          <a:solidFill>
            <a:srgbClr val="FFFFFF"/>
          </a:solidFill>
          <a:ln w="15240">
            <a:solidFill>
              <a:srgbClr val="102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episode source links folded corner 0"/>
          <p:cNvCxnSpPr/>
          <p:nvPr/>
        </p:nvCxnSpPr>
        <p:spPr>
          <a:xfrm>
            <a:off x="5440680" y="8247888"/>
            <a:ext cx="0" cy="82295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episode source links folded corner 1"/>
          <p:cNvCxnSpPr/>
          <p:nvPr/>
        </p:nvCxnSpPr>
        <p:spPr>
          <a:xfrm>
            <a:off x="5440680" y="8330183"/>
            <a:ext cx="82296" cy="0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episode source links line 15 0"/>
          <p:cNvCxnSpPr/>
          <p:nvPr/>
        </p:nvCxnSpPr>
        <p:spPr>
          <a:xfrm>
            <a:off x="5376672" y="8385048"/>
            <a:ext cx="100584" cy="0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episode source links line 21 0"/>
          <p:cNvCxnSpPr/>
          <p:nvPr/>
        </p:nvCxnSpPr>
        <p:spPr>
          <a:xfrm>
            <a:off x="5376672" y="8439912"/>
            <a:ext cx="100584" cy="0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episode source links line 27 0"/>
          <p:cNvCxnSpPr/>
          <p:nvPr/>
        </p:nvCxnSpPr>
        <p:spPr>
          <a:xfrm>
            <a:off x="5376672" y="8494776"/>
            <a:ext cx="100584" cy="0"/>
          </a:xfrm>
          <a:prstGeom prst="line">
            <a:avLst/>
          </a:prstGeom>
          <a:ln w="13970">
            <a:solidFill>
              <a:srgbClr val="102E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episode provenance label"/>
          <p:cNvSpPr txBox="1"/>
          <p:nvPr/>
        </p:nvSpPr>
        <p:spPr>
          <a:xfrm>
            <a:off x="5550408" y="8211312"/>
            <a:ext cx="148132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065" b="0">
                <a:solidFill>
                  <a:srgbClr val="102E83"/>
                </a:solidFill>
                <a:latin typeface="Arial"/>
              </a:defRPr>
            </a:pPr>
            <a:r>
              <a:t>Stored with source links</a:t>
            </a:r>
          </a:p>
        </p:txBody>
      </p:sp>
      <p:cxnSp>
        <p:nvCxnSpPr>
          <p:cNvPr id="242" name="knowledge to history details 0"/>
          <p:cNvCxnSpPr/>
          <p:nvPr/>
        </p:nvCxnSpPr>
        <p:spPr>
          <a:xfrm flipH="1">
            <a:off x="7223760" y="8330183"/>
            <a:ext cx="7242048" cy="0"/>
          </a:xfrm>
          <a:prstGeom prst="line">
            <a:avLst/>
          </a:prstGeom>
          <a:ln w="20320">
            <a:solidFill>
              <a:srgbClr val="4796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knowledge detail continuation 0"/>
          <p:cNvCxnSpPr/>
          <p:nvPr/>
        </p:nvCxnSpPr>
        <p:spPr>
          <a:xfrm flipH="1">
            <a:off x="11109960" y="8522208"/>
            <a:ext cx="2340864" cy="0"/>
          </a:xfrm>
          <a:prstGeom prst="line">
            <a:avLst/>
          </a:prstGeom>
          <a:ln w="20320">
            <a:solidFill>
              <a:srgbClr val="4796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knowledge first label"/>
          <p:cNvSpPr txBox="1"/>
          <p:nvPr/>
        </p:nvSpPr>
        <p:spPr>
          <a:xfrm>
            <a:off x="7836408" y="8375904"/>
            <a:ext cx="3191256" cy="26517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1512" b="0">
                <a:solidFill>
                  <a:srgbClr val="225C21"/>
                </a:solidFill>
                <a:latin typeface="Arial"/>
              </a:defRPr>
            </a:pPr>
            <a:r>
              <a:t>Knowledge first · details on demand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KnowBody — Functional body knowledge and downstream interaction experience</dc:title>
  <dc:subject>User-selected functional-tool/key layout rebuilt with original evidence</dc:subject>
  <dc:creator>KnowBody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